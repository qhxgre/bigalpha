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BigAlpha 2026 全球高校联赛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E8B03E"/>
                </a:solidFill>
                <a:latin typeface="Microsoft YaHei"/>
              </a:rPr>
              <a:t>三大赛事赛题整合介绍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AI 因子挖掘 · 端到端大模型 · AI 开放创新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EE7F7"/>
                </a:solidFill>
                <a:latin typeface="Microsoft YaHei"/>
              </a:rPr>
              <a:t>依托 BigQuant AI 投研平台 · 真实数据 · 开放赛题 · 专业评审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EE7F7"/>
                </a:solidFill>
                <a:latin typeface="Microsoft YaHei"/>
              </a:rPr>
              <a:t>BigQuant（宽邦科技）  |  2026.05 –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目录  | 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大赛总览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BigAlpha 与三大赛事框架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554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共同信息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874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赛程 · 决赛 · 奖项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60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AI 因子挖掘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80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传统 + AI 双赛道，挖掘 Alpha 因子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46888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560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端到端大模型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880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原始量价数据直出预测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747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566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AI 开放创新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围绕 AI × 量化自由立项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74720"/>
            <a:ext cx="5669280" cy="777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474720"/>
            <a:ext cx="777240" cy="77724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4747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8B03E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66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三赛事对比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横向差异 + 选题建议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01  大赛总览  |  BigAlpha 全球联赛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面向全球高校青年人才的年度 AI 量化投研赛事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A5B"/>
                </a:solidFill>
                <a:latin typeface="Microsoft YaHei"/>
              </a:rPr>
              <a:t>连接高校 · 学生 · 量化机构 · AI 金融实践场景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通过真实数据、开放赛题与专业评审，发现具备 AI 投研能力、量化建模能力与策略创新能力的新一代金融科技人才。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287" y="3200400"/>
            <a:ext cx="36576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2287" y="3200400"/>
            <a:ext cx="3657600" cy="64008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28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AI 因子挖掘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适合人群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金融工程 / 量化 / 数学 / 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赛题概览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在分钟级 A 股数据上挖掘日频因子，传统赛道与 AI 赛道并行评分。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47" y="3200400"/>
            <a:ext cx="36576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3200400"/>
            <a:ext cx="3657600" cy="640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04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端到端大模型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4C93"/>
                </a:solidFill>
                <a:latin typeface="Microsoft YaHei"/>
              </a:rPr>
              <a:t>适合人群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AI / CS / 数据科学 / 金融科技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4C93"/>
                </a:solidFill>
                <a:latin typeface="Microsoft YaHei"/>
              </a:rPr>
              <a:t>赛题概览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无特征工程，用深度网络直接从原始量价序列学习残差收益预测。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1807" y="3200400"/>
            <a:ext cx="36576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1807" y="3200400"/>
            <a:ext cx="3657600" cy="64008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180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AI 开放创新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40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6C2A"/>
                </a:solidFill>
                <a:latin typeface="Microsoft YaHei"/>
              </a:rPr>
              <a:t>适合人群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40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跨学科 / 创新创业团队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40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6C2A"/>
                </a:solidFill>
                <a:latin typeface="Microsoft YaHei"/>
              </a:rPr>
              <a:t>赛题概览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围绕 AI × 量化任意立项：因子、事件驱动、多模态、Agent 工具链。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01  关于 BigQuant  |  AI 量化投研平台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Democratize AI to empower investors —— 让 AI 普惠每一位投资者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国内领先的 AI 量化投资平台，行业内首个将 AI 系统性应用于投资领域的平台级产品；本届赛事直接复用机构客户一致的工具链。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09728" cy="192024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数据底座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PB 级标准金融数据 + 另类数据，覆盖行情、财务、舆情、产业链；提供 PIT 处理、跨频率对齐等基础设施。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486400" cy="1920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109728" cy="192024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因子与算法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2000+ 基础因子库；表达式引擎 / UDF / AI 自动化挖掘；AutoML、超参寻优、滚动训练、组合优化、归因分析等组件。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486400" cy="1920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09728" cy="192024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研发环境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DAI 数据引擎提供高性能因子计算（速度更快 / 内存更低）；模块化可视化开发与 Python / Notebook 无缝集成。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486400" cy="19202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109728" cy="192024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生态与落地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策略源码库、券商研报、量化学院培训、模拟与实盘对接，构建从学习到落地的完整闭环。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02  共同信息  |  赛程时间轴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三大赛事统一节奏：报名 → 初赛 → 决赛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698480" cy="54864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5827" y="914400"/>
            <a:ext cx="3383280" cy="20116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5827" y="914400"/>
            <a:ext cx="3383280" cy="50292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827" y="9144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阶段一 · 宣传报名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27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8B03E"/>
                </a:solidFill>
                <a:latin typeface="Microsoft YaHei"/>
              </a:rPr>
              <a:t>2026-05-15 ~ 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707" y="18288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5/25 起正式报名 · 单队最多 5 人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6/8 ~ 6/18 系统内测，结束后清榜</a:t>
            </a:r>
          </a:p>
        </p:txBody>
      </p:sp>
      <p:sp>
        <p:nvSpPr>
          <p:cNvPr id="12" name="Oval 11"/>
          <p:cNvSpPr/>
          <p:nvPr/>
        </p:nvSpPr>
        <p:spPr>
          <a:xfrm>
            <a:off x="2397739" y="3026664"/>
            <a:ext cx="219456" cy="219456"/>
          </a:xfrm>
          <a:prstGeom prst="ellipse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8421" y="3657600"/>
            <a:ext cx="3383280" cy="20116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8421" y="3657600"/>
            <a:ext cx="3383280" cy="50292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8421" y="36576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阶段二 · 初赛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8421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8B03E"/>
                </a:solidFill>
                <a:latin typeface="Microsoft YaHei"/>
              </a:rPr>
              <a:t>2026-06-25 ~ 08-05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1301" y="45720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因子挖掘 / 端到端 7/26 截止；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开放创新 8/5 提交方案；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公榜实时打分，私榜决定排名</a:t>
            </a:r>
          </a:p>
        </p:txBody>
      </p:sp>
      <p:sp>
        <p:nvSpPr>
          <p:cNvPr id="18" name="Oval 17"/>
          <p:cNvSpPr/>
          <p:nvPr/>
        </p:nvSpPr>
        <p:spPr>
          <a:xfrm>
            <a:off x="5960333" y="3026664"/>
            <a:ext cx="219456" cy="219456"/>
          </a:xfrm>
          <a:prstGeom prst="ellipse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41015" y="914400"/>
            <a:ext cx="3383280" cy="20116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1015" y="914400"/>
            <a:ext cx="3383280" cy="50292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1015" y="9144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阶段三 · 决赛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1015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8B03E"/>
                </a:solidFill>
                <a:latin typeface="Microsoft YaHei"/>
              </a:rPr>
              <a:t>2026-09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3895" y="18288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美国场 09-01 @ UC Berkeley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亚洲场 9 月中旬 @ 北京大学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现场答辩 + 颁奖</a:t>
            </a:r>
          </a:p>
        </p:txBody>
      </p:sp>
      <p:sp>
        <p:nvSpPr>
          <p:cNvPr id="24" name="Oval 23"/>
          <p:cNvSpPr/>
          <p:nvPr/>
        </p:nvSpPr>
        <p:spPr>
          <a:xfrm>
            <a:off x="9522927" y="3026664"/>
            <a:ext cx="219456" cy="219456"/>
          </a:xfrm>
          <a:prstGeom prst="ellipse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02  共同信息  |  决赛与晋级规则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两地双场 · 12 个晋级名额 · 现场答辩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决赛场次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A8"/>
                </a:solidFill>
                <a:latin typeface="Microsoft YaHei"/>
              </a:rPr>
              <a:t>美国场 · 2026-09-01 · UC Berkeley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A8"/>
                </a:solidFill>
                <a:latin typeface="Microsoft YaHei"/>
              </a:rPr>
              <a:t>亚洲场 · 2026 年 9 月中旬 · 北京大学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答辩形式：25 分钟展示 + 5 分钟评委问答；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线下举行，同步线上直播。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晋级名额（每场 12 个）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2A5B"/>
                </a:solidFill>
                <a:latin typeface="Microsoft YaHei"/>
              </a:rPr>
              <a:t>• 直通晋级 · 6 席</a:t>
            </a:r>
            <a:r>
              <a:rPr sz="1200">
                <a:solidFill>
                  <a:srgbClr val="4A5568"/>
                </a:solidFill>
                <a:latin typeface="Microsoft YaHei"/>
              </a:rPr>
              <a:t>  每场 × 各赛事初赛前 2 名（3 × 2）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2A5B"/>
                </a:solidFill>
                <a:latin typeface="Microsoft YaHei"/>
              </a:rPr>
              <a:t>• 综合评定 · 6 席</a:t>
            </a:r>
            <a:r>
              <a:rPr sz="1200">
                <a:solidFill>
                  <a:srgbClr val="4A5568"/>
                </a:solidFill>
                <a:latin typeface="Microsoft YaHei"/>
              </a:rPr>
              <a:t>  组委会跨赛事综合判定选出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2A5B"/>
                </a:solidFill>
                <a:latin typeface="Microsoft YaHei"/>
              </a:rPr>
              <a:t>• 评定来源</a:t>
            </a:r>
            <a:r>
              <a:rPr sz="1200">
                <a:solidFill>
                  <a:srgbClr val="4A5568"/>
                </a:solidFill>
                <a:latin typeface="Microsoft YaHei"/>
              </a:rPr>
              <a:t>  三大赛事初赛表现整体评估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26517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决赛参赛材料：研究报告（PDF · 10–15 页）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摘要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研究目标 · 方法 · 结论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43484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引言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463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研究背景与文献综述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43484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因子 / 模型构建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8463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数据预处理与方法细节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6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实证分析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回测、归因、稳健性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39496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创新与局限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806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方法创新点与边界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394960"/>
            <a:ext cx="3520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5486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A8"/>
                </a:solidFill>
                <a:latin typeface="Microsoft YaHei"/>
              </a:rPr>
              <a:t>结论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806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总结与未来方向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02  共同信息  |  奖项体系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三大赛事共享奖项；覆盖比赛全周期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洲际奖项（每场分别设置）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691640"/>
            <a:ext cx="3657600" cy="18288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1691640"/>
            <a:ext cx="3657600" cy="50292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87" y="16916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金奖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287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Microsoft YaHei"/>
              </a:rPr>
              <a:t>1 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2A5B"/>
                </a:solidFill>
                <a:latin typeface="Microsoft YaHei"/>
              </a:rPr>
              <a:t>￥20,000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奖杯 + 电子证书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1691640"/>
            <a:ext cx="3657600" cy="18288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1691640"/>
            <a:ext cx="3657600" cy="50292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047" y="16916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银奖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047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Microsoft YaHei"/>
              </a:rPr>
              <a:t>2 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2A5B"/>
                </a:solidFill>
                <a:latin typeface="Microsoft YaHei"/>
              </a:rPr>
              <a:t>￥15,000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047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奖杯 + 电子证书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1807" y="1691640"/>
            <a:ext cx="3657600" cy="18288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807" y="1691640"/>
            <a:ext cx="3657600" cy="50292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1807" y="16916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铜奖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Microsoft YaHei"/>
              </a:rPr>
              <a:t>3 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1807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2A5B"/>
                </a:solidFill>
                <a:latin typeface="Microsoft YaHei"/>
              </a:rPr>
              <a:t>￥10,000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1807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Microsoft YaHei"/>
              </a:rPr>
              <a:t>奖杯 + 电子证书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初赛奖项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2A5B"/>
                </a:solidFill>
                <a:latin typeface="Microsoft YaHei"/>
              </a:rPr>
              <a:t>• 赛道周冠军</a:t>
            </a:r>
            <a:r>
              <a:rPr sz="1200">
                <a:solidFill>
                  <a:srgbClr val="4A5568"/>
                </a:solidFill>
                <a:latin typeface="Microsoft YaHei"/>
              </a:rPr>
              <a:t>  每周评选 · ￥1,500 / 周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2A5B"/>
                </a:solidFill>
                <a:latin typeface="Microsoft YaHei"/>
              </a:rPr>
              <a:t>• BigAlpha 量化新星</a:t>
            </a:r>
            <a:r>
              <a:rPr sz="1200">
                <a:solidFill>
                  <a:srgbClr val="4A5568"/>
                </a:solidFill>
                <a:latin typeface="Microsoft YaHei"/>
              </a:rPr>
              <a:t>  至少提交一次有效作品即颁发电子证书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特色奖项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随赛事推进，组委会评选具有特色的作品与团队进行专项颁奖；奖项内容届时公布，奖金合计 ￥12,500。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B03E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AI 因子挖掘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EE7F7"/>
                </a:solidFill>
                <a:latin typeface="Microsoft YaHei"/>
              </a:rPr>
              <a:t>Alpha Factor Mining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B03E"/>
                </a:solidFill>
                <a:latin typeface="Microsoft YaHei"/>
              </a:rPr>
              <a:t>传统赛道 + AI 智能赛道并行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在中证 1000 成分股的分钟级行情上构建日频因子；公榜实时迭代、私榜样本外评分。</a:t>
            </a:r>
          </a:p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适合：金融工程、量化、数学、统计方向学生。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03  AI 因子挖掘  |  双赛道与数据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投资逻辑 vs AI 创新；同一数据集，不同评审导向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A5B"/>
                </a:solidFill>
                <a:latin typeface="Microsoft YaHei"/>
              </a:rPr>
              <a:t>双赛道并行模式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7784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577840" cy="45720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传统量化赛道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强调投资逻辑、统计显著性与经济解释性。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多因子模型 · 基本面 · 经典技术指标 · 物理模型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重点评估：经济逻辑合理性、统计显著性、跨市场环境稳健性、可解释性。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24688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AI 智能赛道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A4C93"/>
                </a:solidFill>
                <a:latin typeface="Microsoft YaHei"/>
              </a:rPr>
              <a:t>利用 LLM、强化学习、遗传算法做因子自动生成或优化。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自动化特征工程 · Prompt 生成因子公式 · 神经网络挖掘非线性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重点评估：因子有效性 + AI 应用深度 / 创新性 / 参与度。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1247120" cy="23317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数据  |  高质量 A 股市场数据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137160" cy="64008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股票池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中证 1000 指数历史相应时点成分股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54880"/>
            <a:ext cx="137160" cy="64008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时间范围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2019-01-01 ~ 2024-12-31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32120"/>
            <a:ext cx="137160" cy="64008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行情数据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52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1 分钟 K 线 + 盘口快照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532120"/>
            <a:ext cx="137160" cy="64008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532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财务数据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852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已做 PIT（Point-in-Time）处理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03  AI 因子挖掘  |  评估体系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团队最终得分 = 0.3 × A 项（最佳单因子） + 0.7 × B 项（Elastic Net 组合贡献）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 项 · 单因子最佳得分（30%）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FACTOR = 0.25·Rank(IC_mean) + 0.25·Rank(IC_IR)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A5B"/>
                </a:solidFill>
                <a:latin typeface="Microsoft YaHei"/>
              </a:rPr>
              <a:t>          + 0.25·Rank(SR) + 0.25·Rank(Stress)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IC 均值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截面相关性的强度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IC_IR</a:t>
            </a:r>
            <a:r>
              <a:rPr sz="1100">
                <a:solidFill>
                  <a:srgbClr val="4A5568"/>
                </a:solidFill>
                <a:latin typeface="Microsoft YaHei"/>
              </a:rPr>
              <a:t>  IC 序列稳定性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SR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多空组合年化夏普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Stress</a:t>
            </a:r>
            <a:r>
              <a:rPr sz="1100">
                <a:solidFill>
                  <a:srgbClr val="4A5568"/>
                </a:solidFill>
                <a:latin typeface="Microsoft YaHei"/>
              </a:rPr>
              <a:t>  特殊行情下的稳健性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 项 · Elastic Net 组合贡献（70%）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汇总全场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所有团队入池因子构成全局候选集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滚动回归</a:t>
            </a:r>
            <a:r>
              <a:rPr sz="1100">
                <a:solidFill>
                  <a:srgbClr val="4A5568"/>
                </a:solidFill>
                <a:latin typeface="Microsoft YaHei"/>
              </a:rPr>
              <a:t>  60 个交易日窗口、步长 20 日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ModelScore</a:t>
            </a:r>
            <a:r>
              <a:rPr sz="1100">
                <a:solidFill>
                  <a:srgbClr val="4A5568"/>
                </a:solidFill>
                <a:latin typeface="Microsoft YaHei"/>
              </a:rPr>
              <a:t>  mean(|w|) / (std(|w|) + ε)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L1 选因子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无增量贡献者权重压至 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团队得分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本队被选中因子的 ModelScore 百分位均值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5486400" cy="1874519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提交规则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每队最多提交 50 个因子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从中选 1 ~ 50 个进入因子池参评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Microsoft YaHei"/>
              </a:rPr>
              <a:t>• 鼓励精选，多堆砌反而拉低 B 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26280"/>
            <a:ext cx="5486400" cy="1874519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数据划分（公榜 / 私榜）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公榜</a:t>
            </a:r>
            <a:r>
              <a:rPr sz="1100">
                <a:solidFill>
                  <a:srgbClr val="4A5568"/>
                </a:solidFill>
                <a:latin typeface="Microsoft YaHei"/>
              </a:rPr>
              <a:t>  训练 2019-01-01 ~ 2024-12-31 / 验证 2025 全年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私榜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区间不公开，含 2026 样本外，最终排名以此为准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03  AI 因子挖掘  |  提交规范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提交因子构建代码（非数据），平台自动运行评分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返回数据格式（main 函数输出）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691640" cy="4114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691640"/>
            <a:ext cx="1691640" cy="4114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91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instrument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1691640" cy="4114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691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2023-01-03 09:45:00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1031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1031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000001.SZ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1031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1031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1460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146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2023-01-03 09:45:00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51460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25146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000002.SZ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51460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5146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-0.12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2608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292608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2926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92608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2926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默认因子值越大越好；参赛者需自行确保因子方向正确性。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数据校验与预处理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64592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列检查</a:t>
            </a:r>
            <a:r>
              <a:rPr sz="1100">
                <a:solidFill>
                  <a:srgbClr val="4A5568"/>
                </a:solidFill>
                <a:latin typeface="Microsoft YaHei"/>
              </a:rPr>
              <a:t>  仅含 date / instrument / factor 三列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交易日完整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区间内不缺任何交易日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覆盖度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每日缺失率 ≤ 40%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预处理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去极值 + 标准化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风格剔除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对 BARRA 风险因子回归取残差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平台与代码要求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平台运行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61772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在指定线上 Notebook 环境运行；AI 赛道使用平台 AI 工具链 / 算力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运行时长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61772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CPU Notebook ≤ 3 小时；AI 赛道 GPU ≤ 6 小时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网络限制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48640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Notebook 互联网访问被禁用，防止信息泄露与未来数据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最终提交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48640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提交可自动运行生成因子的代码；AI 赛道额外提交应用说明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B03E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端到端大模型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EE7F7"/>
                </a:solidFill>
                <a:latin typeface="Microsoft YaHei"/>
              </a:rPr>
              <a:t>End-to-End Quant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B03E"/>
                </a:solidFill>
                <a:latin typeface="Microsoft YaHei"/>
              </a:rPr>
              <a:t>原始量价 → 投资决策一站式映射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无显式特征工程，用深度网络直接从分钟级行情学习残差收益预测；私榜阶段平台重训。</a:t>
            </a:r>
          </a:p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适合：AI、CS、数据科学、金融科技方向学生。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04  端到端大模型  |  任务与数据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鼓励无特征 / 弱特征建模，直接处理原始量价序列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37160" cy="219456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任务定义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传统 “因子挖掘 + 组合优化” 两步走范式存在信息损耗与人工偏见；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本赛道聚焦端到端模型生成：用多频率分钟级行情作为输入，训练目标为股票残差收益率，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通过模型内部机制自发捕捉市场微观结构的深层规律。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数据说明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287" y="3977639"/>
            <a:ext cx="2743200" cy="15544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287" y="3977639"/>
            <a:ext cx="2743200" cy="41148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" y="397763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股票池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448055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</a:rPr>
              <a:t>中证 1000 历史成分股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6927" y="3977639"/>
            <a:ext cx="2743200" cy="15544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6927" y="3977639"/>
            <a:ext cx="2743200" cy="4114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927" y="397763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时间范围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6927" y="448055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</a:rPr>
              <a:t>2019-01-01 ~ 2023-12-31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1567" y="3977639"/>
            <a:ext cx="2743200" cy="15544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1567" y="3977639"/>
            <a:ext cx="2743200" cy="41148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397763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行情频率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567" y="448055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</a:rPr>
              <a:t>1 / 5 / 15 / 30 分钟 K 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6207" y="3977639"/>
            <a:ext cx="2743200" cy="15544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6207" y="3977639"/>
            <a:ext cx="274320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6207" y="397763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市场快照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6207" y="448055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</a:rPr>
              <a:t>盘口数据（多频率）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官方模板代码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Transformer 基础模型（demo_transformer.ipynb）  ·  轻量化序列模型（demo_lightweight.ipynb）  ·  分布式数据加载（demo_data_loader.ipynb）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04  端到端大模型  |  模型规范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硬性约束限制特征工程，鼓励真正的端到端结构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输入与特征约束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特征上限</a:t>
            </a:r>
            <a:r>
              <a:rPr sz="1100">
                <a:solidFill>
                  <a:srgbClr val="4A5568"/>
                </a:solidFill>
                <a:latin typeface="Microsoft YaHei"/>
              </a:rPr>
              <a:t>  ≤ 100 个原始字段（时序长度不计）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数据来源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全部来自主办方提供的数据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禁止操作</a:t>
            </a:r>
            <a:r>
              <a:rPr sz="1100">
                <a:solidFill>
                  <a:srgbClr val="4A5568"/>
                </a:solidFill>
                <a:latin typeface="Microsoft YaHei"/>
              </a:rPr>
              <a:t>  跨字段算子、滚动统计、因子合成、降维、第三方数据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允许预处理</a:t>
            </a:r>
            <a:r>
              <a:rPr sz="1100">
                <a:solidFill>
                  <a:srgbClr val="4A5568"/>
                </a:solidFill>
                <a:latin typeface="Microsoft YaHei"/>
              </a:rPr>
              <a:t>  缺失填充、归一化、对数 / 符号变换（仅训练集统计）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时序窗口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单次推理回看 ≤ 240 个交易日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3200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模型架构约束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可训练参数</a:t>
            </a:r>
            <a:r>
              <a:rPr sz="1100">
                <a:solidFill>
                  <a:srgbClr val="4A5568"/>
                </a:solidFill>
                <a:latin typeface="Microsoft YaHei"/>
              </a:rPr>
              <a:t>  10 万 ≤ 参数量 ≤ 1 亿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外部权重</a:t>
            </a:r>
            <a:r>
              <a:rPr sz="1100">
                <a:solidFill>
                  <a:srgbClr val="4A5568"/>
                </a:solidFill>
                <a:latin typeface="Microsoft YaHei"/>
              </a:rPr>
              <a:t>  禁止使用任何外部预训练权重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从零训练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所有参数基于本竞赛数据训练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架构形态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未硬性指定；浅层模型（线性 / XGBoost）难有竞争力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11247120" cy="18288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模型输出格式（推理产出分数文件）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2377440" cy="36576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5029200"/>
            <a:ext cx="2377440" cy="36576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instrument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5029200"/>
            <a:ext cx="2377440" cy="36576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2023-01-03 09:45:00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000001.SZ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0.05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2023-01-03 09:45:00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000002.SZ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Microsoft YaHei"/>
              </a:rPr>
              <a:t>-0.12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29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默认分数越大越好；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所产出分数经风格剔除后等价于每日更新的单因子，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因此直接以单因子得分作为团队得分。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04  端到端大模型  |  评估与提交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公榜按提交权重推理；私榜由平台从零重训后推理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9601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2A5B"/>
                </a:solidFill>
                <a:latin typeface="Microsoft YaHei"/>
              </a:rPr>
              <a:t>最终得分公式（与因子挖掘 A 项一致）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A8"/>
                </a:solidFill>
                <a:latin typeface="Microsoft YaHei"/>
              </a:rPr>
              <a:t>Score = 0.25·Rank(IC_mean) + 0.25·Rank(IC_IR) + 0.25·Rank(SR) + 0.25·Rank(Stress)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48640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平台预处理流程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去极值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截面 1% / 99% 分位 winsorize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标准化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截面 z-score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风格剔除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对 10 类 BARRA 风险因子回归取残差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48640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数据划分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公榜训练</a:t>
            </a:r>
            <a:r>
              <a:rPr sz="1100">
                <a:solidFill>
                  <a:srgbClr val="4A5568"/>
                </a:solidFill>
                <a:latin typeface="Microsoft YaHei"/>
              </a:rPr>
              <a:t>  2019-01-01 ~ 2023-12-31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公榜验证</a:t>
            </a:r>
            <a:r>
              <a:rPr sz="1100">
                <a:solidFill>
                  <a:srgbClr val="4A5568"/>
                </a:solidFill>
                <a:latin typeface="Microsoft YaHei"/>
              </a:rPr>
              <a:t>  2024-01-01 ~ 2024-12-31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私榜</a:t>
            </a:r>
            <a:r>
              <a:rPr sz="1100">
                <a:solidFill>
                  <a:srgbClr val="4A5568"/>
                </a:solidFill>
                <a:latin typeface="Microsoft YaHei"/>
              </a:rPr>
              <a:t>  区间不公开，含样本外数据，最终排名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11247120" cy="1874519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提交规范与频次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公榜单次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98348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完整模型包：训练 + 推理脚本、依赖、超参、随机种子、已训练权重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76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公榜推理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276088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平台仅基于提交权重做推理，免去重复训练成本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686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提交频次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56869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每队每日 ≤ 3 次（含失败提交）；提交互不覆盖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613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私榜模型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861304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公榜截止前指定唯一参赛模型，逾期默认取最高分提交并冻结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539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私榜重训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6153912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平台隔离环境从零重训 + 私榜区间推理，结果即为最终排名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E8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B03E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AI 开放创新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EE7F7"/>
                </a:solidFill>
                <a:latin typeface="Microsoft YaHei"/>
              </a:rPr>
              <a:t>Open Innovation in AI × 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B03E"/>
                </a:solidFill>
                <a:latin typeface="Microsoft YaHei"/>
              </a:rPr>
              <a:t>面向 AI × 量化的开放式创新创业项目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不预设固定命题、不逐日打分；自由立项，线下路演评比，配套人才网络与孵化资源。</a:t>
            </a:r>
          </a:p>
          <a:p>
            <a:pPr algn="l"/>
            <a:r>
              <a:rPr sz="1400" b="0">
                <a:solidFill>
                  <a:srgbClr val="DEE7F7"/>
                </a:solidFill>
                <a:latin typeface="Microsoft YaHei"/>
              </a:rPr>
              <a:t>适合：跨学科、创新创业团队。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05  AI 开放创新  |  立项方向与数据工具栈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鼓励原创 · 可跨方向融合 · AI 必须为核心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A5B"/>
                </a:solidFill>
                <a:latin typeface="Microsoft YaHei"/>
              </a:rPr>
              <a:t>可选立项方向（提交时注明主方向即可）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77840" cy="12801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37160" cy="1280160"/>
          </a:xfrm>
          <a:prstGeom prst="rect">
            <a:avLst/>
          </a:prstGeom>
          <a:solidFill>
            <a:srgbClr val="1F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AI 因子与策略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LLM、时序模型、强化学习挖掘特色因子；端到端 AI 量化策略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12801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37160" cy="12801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宏观与事件驱动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美联储议息、地缘政治、政策调整：风险识别 / 情景模拟 / 对冲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577840" cy="12801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37160" cy="128016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多模态金融理解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研报、电话会、新闻、图表的多模态解析与信号生成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5577840" cy="12801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13716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AI 工具与基础设施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204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评测框架、回测加速、可解释性、Agent 工作流等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1247120" cy="20116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数据与工具栈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83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结构化数据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983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A 股日频 / 分钟频行情、PIT 财务数据、宏观指标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83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非结构化数据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983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研报、新闻、电话会、股吧舆情（已合规脱敏）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23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算力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6235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CPU / GPU Notebook；决赛阶段为入围团队提供 GPU 算力包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623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A8"/>
                </a:solidFill>
                <a:latin typeface="Microsoft YaHei"/>
              </a:rPr>
              <a:t>AI 工具链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6235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主流开源 LLM 接口 + BigQuant 自研量化基础模型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05  AI 开放创新  |  准入校验与决赛评审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通过准入 → 进入决赛评审池 → 路演评分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2918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方案准入校验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1206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内容相关性</a:t>
            </a:r>
            <a:r>
              <a:rPr sz="1100">
                <a:solidFill>
                  <a:srgbClr val="4A5568"/>
                </a:solidFill>
                <a:latin typeface="Microsoft YaHei"/>
              </a:rPr>
              <a:t>  与量化领域强相关；不违反金融监管或公序良俗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AI 核心性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核心逻辑必须由 AI 主导，禁止贴标签式 AI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材料完整性</a:t>
            </a:r>
            <a:r>
              <a:rPr sz="1100">
                <a:solidFill>
                  <a:srgbClr val="4A5568"/>
                </a:solidFill>
                <a:latin typeface="Microsoft YaHei"/>
              </a:rPr>
              <a:t>  Notebook + 方案说明 + AI 应用说明 三件套齐全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2A5B"/>
                </a:solidFill>
                <a:latin typeface="Microsoft YaHei"/>
              </a:rPr>
              <a:t>• 合规与安全</a:t>
            </a:r>
            <a:r>
              <a:rPr sz="1100">
                <a:solidFill>
                  <a:srgbClr val="4A5568"/>
                </a:solidFill>
                <a:latin typeface="Microsoft YaHei"/>
              </a:rPr>
              <a:t>  无外部网络访问；LLM 输出附事实核查与免责声明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32918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决赛评审标准（百分制）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A5B"/>
                </a:solidFill>
                <a:latin typeface="Microsoft YaHei"/>
              </a:rPr>
              <a:t>AI 应用创新性 ·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技术选型适配性、原创性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A5B"/>
                </a:solidFill>
                <a:latin typeface="Microsoft YaHei"/>
              </a:rPr>
              <a:t>方案完整性 ·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数据 / 训练 / 验证流程严谨；可复现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A5B"/>
                </a:solidFill>
                <a:latin typeface="Microsoft YaHei"/>
              </a:rPr>
              <a:t>商业化与生态 ·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客户画像、付费意愿、与 BigQuant 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A5B"/>
                </a:solidFill>
                <a:latin typeface="Microsoft YaHei"/>
              </a:rPr>
              <a:t>现场表现 ·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陈述清晰、问答精准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提交三件套（方案研发阶段）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74920"/>
            <a:ext cx="35204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核心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main 函数承载核心逻辑；AI 关键环节添加 # [AI-CORE] 注释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5074920"/>
            <a:ext cx="35204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方案说明文档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5321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嵌入 Notebook：场景定义 / 数据使用 / AI 方案 / 验证 / 商业化假设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5074920"/>
            <a:ext cx="35204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5166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A8"/>
                </a:solidFill>
                <a:latin typeface="Microsoft YaHei"/>
              </a:rPr>
              <a:t>AI 应用说明表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5321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icrosoft YaHei"/>
              </a:rPr>
              <a:t>逐项列出 AI 介入位置、所用模型、输入输出、可替代性评估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06  三大赛事对比  |  快速选题指南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4EA8"/>
                </a:solidFill>
                <a:latin typeface="Microsoft YaHei"/>
              </a:rPr>
              <a:t>同一平台、同一时间窗，但任务形态、评分逻辑差异显著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097280"/>
            <a:ext cx="3291840" cy="4572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097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AI 因子挖掘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097280"/>
            <a:ext cx="3246120" cy="4572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端到端大模型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097280"/>
            <a:ext cx="3246120" cy="45720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097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AI 开放创新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14630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544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产出物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54480"/>
            <a:ext cx="3291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554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日频 alpha 因子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55448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5544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端到端模型 + 权重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55448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5544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完整 AI × 量化方案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14630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194560"/>
            <a:ext cx="32918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21945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1 分钟 K 线 + PIT 财务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2019 ~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19456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194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1/5/15/30 分钟行情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2019 ~ 2023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19456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194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结构化 + 非结构化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含舆情语料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4630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346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核心约束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834640"/>
            <a:ext cx="3291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2834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因子方向、覆盖度、风格剔除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283464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28346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≤100 字段、参数 1e5~1e8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禁特征工程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83464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8346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AI 必须为核心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禁贴标签式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74720"/>
            <a:ext cx="14630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4747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评分逻辑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3474720"/>
            <a:ext cx="32918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34747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0.3·单因子最佳 + 0.7·组合贡献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47472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4747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IC / IC_IR / SR / Stress 等权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47472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47472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评委百分制（创新 35%）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14630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榜单机制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4114800"/>
            <a:ext cx="3291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41148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公榜 + 私榜（自动迭代）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411480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41148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公榜 + 私榜（平台重训）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411480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41148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无榜单 · 路演评比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54880"/>
            <a:ext cx="14630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截止日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4754880"/>
            <a:ext cx="32918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1680" y="47548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公榜 7/26 · 决赛 9 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475488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47548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公榜 7/26 · 决赛 9 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4754880"/>
            <a:ext cx="32461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47548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方案 8/5 · 决赛 9 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394960"/>
            <a:ext cx="14630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3949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2A5B"/>
                </a:solidFill>
                <a:latin typeface="Microsoft YaHei"/>
              </a:rPr>
              <a:t>适合人群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0240" y="5394960"/>
            <a:ext cx="3291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1680" y="5394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金工 / 量化 / 数学 / 统计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539496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53949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AI / CS / 数据科学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539496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EE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9640" y="53949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跨学科 / 创新创业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如何参赛  |  报名指引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A5B"/>
                </a:solidFill>
                <a:latin typeface="Microsoft YaHei"/>
              </a:rPr>
              <a:t>参赛流程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54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选定赛事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三大赛事任选其一，可同时参与（账号统一）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86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组队报名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活动主页报名 · 单队最多 5 人 · 报名截止 6/24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175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加入社群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报名后加入官方微信 / QQ 群，寻找队友 / 获取通知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490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系统内测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4904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6/8 ~ 6/18 可提交测试，结束后清榜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8056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805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提交作品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80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因子 / 端到端：7/26 截止；开放创新：8/5 截止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777240" cy="6400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8B03E"/>
                </a:solidFill>
                <a:latin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2A5B"/>
                </a:solidFill>
                <a:latin typeface="Microsoft YaHei"/>
              </a:rPr>
              <a:t>晋级决赛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2120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组委会综合评定 12 个晋级名额 · 9 月线下答辩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F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B03E"/>
                </a:solidFill>
                <a:latin typeface="Microsoft YaHei"/>
              </a:rPr>
              <a:t>报名入口：https://bigquant.com/square/competition/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
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0"/>
  </p:notesMasterIdLst>
  <p:handoutMasterIdLst>
    <p:handoutMasterId r:id="rId11"/>
  </p:handoutMasterIdLst>
  <p:sldIdLst>
    <p:sldId id="259" r:id="rId4"/>
    <p:sldId id="267" r:id="rId5"/>
    <p:sldId id="285" r:id="rId6"/>
    <p:sldId id="653" r:id="rId7"/>
    <p:sldId id="654" r:id="rId8"/>
    <p:sldId id="282" r:id="rId9"/>
  </p:sldIdLst>
  <p:sldSz cx="12192000" cy="6858000"/>
  <p:notesSz cx="7103745" cy="10234295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1" userDrawn="1">
          <p15:clr>
            <a:srgbClr val="A4A3A4"/>
          </p15:clr>
        </p15:guide>
        <p15:guide id="2" pos="40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dmin" initials="A" lastIdx="10" clrIdx="6"/>
  <p:cmAuthor id="0" name="theodore" initials="t" lastIdx="0" clrIdx="0"/>
  <p:cmAuthor id="1" name="钟安琪" initials="钟安琪" lastIdx="1" clrIdx="0"/>
  <p:cmAuthor id="8" name="menglei" initials="m" lastIdx="2" clrIdx="7"/>
  <p:cmAuthor id="2" name="lwang" initials="l" lastIdx="1" clrIdx="1"/>
  <p:cmAuthor id="9" name="CC13479" initials="C" lastIdx="1" clrIdx="8"/>
  <p:cmAuthor id="3" name="PC" initials="P" lastIdx="18" clrIdx="2"/>
  <p:cmAuthor id="10" name="zoeff" initials="z" lastIdx="1" clrIdx="9"/>
  <p:cmAuthor id="4" name="李奇蕊" initials="李奇蕊" lastIdx="2" clrIdx="3"/>
  <p:cmAuthor id="5" name="LENOVO" initials="L" lastIdx="1" clrIdx="4"/>
  <p:cmAuthor id="12" name="regina" initials="r" lastIdx="18" clrIdx="11"/>
  <p:cmAuthor id="6" name="xiaoqi" initials="x" lastIdx="1" clrIdx="5"/>
  <p:cmAuthor id="13" name="liyuping" initials="l" lastIdx="1" clrIdx="12"/>
  <p:cmAuthor id="1483810881" name="WPS_1679281038" initials="W" lastIdx="1" clrIdx="2"/>
  <p:cmAuthor id="14" name="wmsun" initials="w" lastIdx="1" clrIdx="13"/>
  <p:cmAuthor id="15" name="Qi Xinyang" initials="Q" lastIdx="9" clrIdx="8"/>
  <p:cmAuthor id="16" name="苏 通" initials="苏" lastIdx="1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4C5E"/>
    <a:srgbClr val="E65C5D"/>
    <a:srgbClr val="CC0000"/>
    <a:srgbClr val="732810"/>
    <a:srgbClr val="E74C3C"/>
    <a:srgbClr val="FDF8F8"/>
    <a:srgbClr val="AD3C3C"/>
    <a:srgbClr val="FF66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261"/>
        <p:guide pos="4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36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PingFang SC" panose="020B0400000000000000" charset="-122"/>
                <a:ea typeface="PingFang SC" panose="020B0400000000000000" charset="-122"/>
              </a:rPr>
            </a:fld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PingFang SC" panose="020B0400000000000000" charset="-122"/>
                <a:ea typeface="PingFang SC" panose="020B0400000000000000" charset="-122"/>
              </a:rPr>
            </a:fld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ingFang SC" panose="020B0400000000000000" charset="-122"/>
                <a:ea typeface="PingFang SC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ingFang SC" panose="020B0400000000000000" charset="-122"/>
                <a:ea typeface="PingFang SC" panose="020B0400000000000000" charset="-122"/>
              </a:defRPr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ingFang SC" panose="020B0400000000000000" charset="-122"/>
                <a:ea typeface="PingFang SC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ingFang SC" panose="020B0400000000000000" charset="-122"/>
                <a:ea typeface="PingFang SC" panose="020B0400000000000000" charset="-122"/>
              </a:defRPr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ingFang SC" panose="020B0400000000000000" charset="-122"/>
        <a:ea typeface="PingFang SC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ingFang SC" panose="020B0400000000000000" charset="-122"/>
        <a:ea typeface="PingFang SC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ingFang SC" panose="020B0400000000000000" charset="-122"/>
        <a:ea typeface="PingFang SC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ingFang SC" panose="020B0400000000000000" charset="-122"/>
        <a:ea typeface="PingFang SC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ingFang SC" panose="020B0400000000000000" charset="-122"/>
        <a:ea typeface="PingFang SC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9525"/>
            <a:ext cx="12191365" cy="684847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39" name="图片 38" descr="bigquant logo反白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85120" y="362585"/>
            <a:ext cx="1217642" cy="339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9525"/>
            <a:ext cx="12191365" cy="684847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39" name="图片 38" descr="bigquant logo反白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85120" y="362585"/>
            <a:ext cx="1217642" cy="339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1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10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9.xml"/><Relationship Id="rId39" Type="http://schemas.openxmlformats.org/officeDocument/2006/relationships/tags" Target="../tags/tag34.xml"/><Relationship Id="rId38" Type="http://schemas.openxmlformats.org/officeDocument/2006/relationships/tags" Target="../tags/tag33.xml"/><Relationship Id="rId37" Type="http://schemas.openxmlformats.org/officeDocument/2006/relationships/tags" Target="../tags/tag32.xml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8.xml"/><Relationship Id="rId29" Type="http://schemas.openxmlformats.org/officeDocument/2006/relationships/tags" Target="../tags/tag24.xml"/><Relationship Id="rId28" Type="http://schemas.openxmlformats.org/officeDocument/2006/relationships/image" Target="../media/image18.svg"/><Relationship Id="rId27" Type="http://schemas.openxmlformats.org/officeDocument/2006/relationships/image" Target="../media/image17.png"/><Relationship Id="rId26" Type="http://schemas.openxmlformats.org/officeDocument/2006/relationships/image" Target="../media/image16.svg"/><Relationship Id="rId25" Type="http://schemas.openxmlformats.org/officeDocument/2006/relationships/image" Target="../media/image15.png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image" Target="../media/image14.svg"/><Relationship Id="rId2" Type="http://schemas.openxmlformats.org/officeDocument/2006/relationships/tags" Target="../tags/tag7.xml"/><Relationship Id="rId19" Type="http://schemas.openxmlformats.org/officeDocument/2006/relationships/image" Target="../media/image13.png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image" Target="../media/image12.svg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.xml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/Users/liyuping/Library/Containers/com.kingsoft.wpsoffice.mac/Data/tmp/photoeditapp/20260227130220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58"/>
            <a:ext cx="12192000" cy="6851650"/>
          </a:xfrm>
          <a:prstGeom prst="rect">
            <a:avLst/>
          </a:prstGeom>
        </p:spPr>
      </p:pic>
      <p:pic>
        <p:nvPicPr>
          <p:cNvPr id="39" name="图片 38" descr="bigquant logo反白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5120" y="362585"/>
            <a:ext cx="1217642" cy="339112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007745" y="356235"/>
            <a:ext cx="6816090" cy="5996305"/>
            <a:chOff x="1587" y="561"/>
            <a:chExt cx="10734" cy="9443"/>
          </a:xfrm>
        </p:grpSpPr>
        <p:grpSp>
          <p:nvGrpSpPr>
            <p:cNvPr id="5" name="组合 4"/>
            <p:cNvGrpSpPr/>
            <p:nvPr/>
          </p:nvGrpSpPr>
          <p:grpSpPr>
            <a:xfrm>
              <a:off x="1587" y="561"/>
              <a:ext cx="10734" cy="7346"/>
              <a:chOff x="4525" y="301"/>
              <a:chExt cx="10734" cy="7346"/>
            </a:xfrm>
          </p:grpSpPr>
          <p:pic>
            <p:nvPicPr>
              <p:cNvPr id="4" name="图片 3" descr="/Users/liyuping/Library/Containers/com.kingsoft.wpsoffice.mac/Data/tmp/photoeditapp/20260130181730/temp.pngtemp"/>
              <p:cNvPicPr>
                <a:picLocks noChangeAspect="1"/>
              </p:cNvPicPr>
              <p:nvPr/>
            </p:nvPicPr>
            <p:blipFill>
              <a:blip r:embed="rId3">
                <a:lum bright="100000"/>
              </a:blip>
              <a:srcRect b="31533"/>
              <a:stretch>
                <a:fillRect/>
              </a:stretch>
            </p:blipFill>
            <p:spPr>
              <a:xfrm>
                <a:off x="9437" y="301"/>
                <a:ext cx="5822" cy="5982"/>
              </a:xfrm>
              <a:prstGeom prst="rect">
                <a:avLst/>
              </a:prstGeom>
            </p:spPr>
          </p:pic>
          <p:sp>
            <p:nvSpPr>
              <p:cNvPr id="3" name="文本框 2"/>
              <p:cNvSpPr txBox="1"/>
              <p:nvPr/>
            </p:nvSpPr>
            <p:spPr>
              <a:xfrm>
                <a:off x="4525" y="6146"/>
                <a:ext cx="7699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r"/>
                <a:r>
                  <a:rPr lang="en-US" altLang="zh-CN" sz="2800" b="1">
                    <a:solidFill>
                      <a:schemeClr val="bg1"/>
                    </a:solidFill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</a:rPr>
                  <a:t>2026</a:t>
                </a:r>
                <a:r>
                  <a:rPr lang="zh-CN" altLang="en-US" sz="2800" b="1">
                    <a:solidFill>
                      <a:schemeClr val="bg1"/>
                    </a:solidFill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</a:rPr>
                  <a:t>年中国量化投资白皮书</a:t>
                </a:r>
                <a:endParaRPr lang="zh-CN" altLang="en-US" sz="2800" b="1">
                  <a:solidFill>
                    <a:schemeClr val="bg1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endParaRPr>
              </a:p>
              <a:p>
                <a:pPr algn="r"/>
                <a:r>
                  <a:rPr lang="zh-CN" altLang="en-US" sz="2800" b="1">
                    <a:solidFill>
                      <a:schemeClr val="bg1"/>
                    </a:solidFill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</a:rPr>
                  <a:t>及相关活动合作方案</a:t>
                </a:r>
                <a:endParaRPr lang="zh-CN" altLang="en-US" sz="2800" b="1">
                  <a:solidFill>
                    <a:schemeClr val="bg1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endParaRPr>
              </a:p>
            </p:txBody>
          </p:sp>
        </p:grpSp>
        <p:pic>
          <p:nvPicPr>
            <p:cNvPr id="7" name="图片 6" descr="毛笔字 (6)"/>
            <p:cNvPicPr>
              <a:picLocks noChangeAspect="1"/>
            </p:cNvPicPr>
            <p:nvPr/>
          </p:nvPicPr>
          <p:blipFill>
            <a:blip r:embed="rId4">
              <a:lum bright="100000"/>
            </a:blip>
            <a:srcRect t="52167" r="47333" b="4778"/>
            <a:stretch>
              <a:fillRect/>
            </a:stretch>
          </p:blipFill>
          <p:spPr>
            <a:xfrm>
              <a:off x="8093" y="5492"/>
              <a:ext cx="3679" cy="45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861695" y="1477010"/>
            <a:ext cx="10146665" cy="4081145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85">
              <a:cs typeface="PingFang SC" panose="020B04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249490" y="3317622"/>
            <a:ext cx="26939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990000"/>
                </a:solidFill>
                <a:effectLst/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PART 01</a:t>
            </a:r>
            <a:endParaRPr lang="en-US" altLang="zh-CN" sz="3600" b="1" dirty="0">
              <a:solidFill>
                <a:srgbClr val="990000"/>
              </a:solidFill>
              <a:effectLst/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943350" y="2856230"/>
            <a:ext cx="63931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 b="1" dirty="0">
                <a:solidFill>
                  <a:srgbClr val="990000"/>
                </a:solidFill>
                <a:effectLst/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总体</a:t>
            </a:r>
            <a:r>
              <a:rPr lang="zh-CN" altLang="en-US" sz="8000" b="1" dirty="0">
                <a:solidFill>
                  <a:srgbClr val="990000"/>
                </a:solidFill>
                <a:effectLst/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安排</a:t>
            </a:r>
            <a:endParaRPr lang="zh-CN" altLang="en-US" sz="8000" b="1" dirty="0">
              <a:solidFill>
                <a:srgbClr val="990000"/>
              </a:solidFill>
              <a:effectLst/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30545" y="1758950"/>
            <a:ext cx="622935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撰写时间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：2025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-6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月</a:t>
            </a:r>
            <a:endParaRPr lang="zh-CN" alt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呈现时间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：2026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7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月</a:t>
            </a:r>
            <a:endParaRPr lang="zh-CN" alt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问卷调研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预计回收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230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份</a:t>
            </a:r>
            <a:endParaRPr lang="zh-CN" alt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主要章节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市场回顾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、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选股择时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、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人工智能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、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产品配置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、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最佳实践</a:t>
            </a:r>
            <a:endParaRPr lang="en-US" altLang="zh-CN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访谈机构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昂垒资产、翰荣投资、华年投资、量魁资产、林晓明、灵均投资、蒙玺投资、千象资产、时间序列、世纪前沿、托特投资、稳博投资、衍盛资产、益民基金、远和资产、瞻程投资、展弘投资、正瀛投资、深度投资、子午投资</a:t>
            </a:r>
            <a:endParaRPr lang="en-US" altLang="zh-CN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字数预计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：23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万字</a:t>
            </a:r>
            <a:endParaRPr lang="zh-CN" alt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合作方式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联合发布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重要章节撰写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管理人推荐</a:t>
            </a:r>
            <a:r>
              <a:rPr lang="en-US" altLang="zh-CN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品牌</a:t>
            </a:r>
            <a:r>
              <a:rPr lang="zh-CN" alt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露出</a:t>
            </a:r>
            <a:endParaRPr lang="zh-CN" alt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6045" y="255193"/>
            <a:ext cx="8570678" cy="924638"/>
            <a:chOff x="536045" y="255193"/>
            <a:chExt cx="8570678" cy="924638"/>
          </a:xfrm>
        </p:grpSpPr>
        <p:sp>
          <p:nvSpPr>
            <p:cNvPr id="14" name="文本框 13"/>
            <p:cNvSpPr txBox="1"/>
            <p:nvPr/>
          </p:nvSpPr>
          <p:spPr>
            <a:xfrm>
              <a:off x="1021903" y="783698"/>
              <a:ext cx="80848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sz="1400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604020202090204" pitchFamily="34" charset="0"/>
              </a:endParaRPr>
            </a:p>
          </p:txBody>
        </p:sp>
        <p:sp>
          <p:nvSpPr>
            <p:cNvPr id="15" name="矩形 1"/>
            <p:cNvSpPr/>
            <p:nvPr/>
          </p:nvSpPr>
          <p:spPr>
            <a:xfrm>
              <a:off x="536045" y="255193"/>
              <a:ext cx="485699" cy="798993"/>
            </a:xfrm>
            <a:custGeom>
              <a:avLst/>
              <a:gdLst>
                <a:gd name="connsiteX0" fmla="*/ 0 w 485435"/>
                <a:gd name="connsiteY0" fmla="*/ 0 h 798993"/>
                <a:gd name="connsiteX1" fmla="*/ 485435 w 485435"/>
                <a:gd name="connsiteY1" fmla="*/ 0 h 798993"/>
                <a:gd name="connsiteX2" fmla="*/ 485435 w 485435"/>
                <a:gd name="connsiteY2" fmla="*/ 798993 h 798993"/>
                <a:gd name="connsiteX3" fmla="*/ 0 w 485435"/>
                <a:gd name="connsiteY3" fmla="*/ 798993 h 798993"/>
                <a:gd name="connsiteX4" fmla="*/ 0 w 485435"/>
                <a:gd name="connsiteY4" fmla="*/ 0 h 798993"/>
                <a:gd name="connsiteX0-1" fmla="*/ 0 w 485699"/>
                <a:gd name="connsiteY0-2" fmla="*/ 0 h 798993"/>
                <a:gd name="connsiteX1-3" fmla="*/ 485435 w 485699"/>
                <a:gd name="connsiteY1-4" fmla="*/ 0 h 798993"/>
                <a:gd name="connsiteX2-5" fmla="*/ 485699 w 485699"/>
                <a:gd name="connsiteY2-6" fmla="*/ 214890 h 798993"/>
                <a:gd name="connsiteX3-7" fmla="*/ 485435 w 485699"/>
                <a:gd name="connsiteY3-8" fmla="*/ 798993 h 798993"/>
                <a:gd name="connsiteX4-9" fmla="*/ 0 w 485699"/>
                <a:gd name="connsiteY4-10" fmla="*/ 798993 h 798993"/>
                <a:gd name="connsiteX5" fmla="*/ 0 w 485699"/>
                <a:gd name="connsiteY5" fmla="*/ 0 h 798993"/>
                <a:gd name="connsiteX0-11" fmla="*/ 0 w 485699"/>
                <a:gd name="connsiteY0-12" fmla="*/ 0 h 798993"/>
                <a:gd name="connsiteX1-13" fmla="*/ 485435 w 485699"/>
                <a:gd name="connsiteY1-14" fmla="*/ 0 h 798993"/>
                <a:gd name="connsiteX2-15" fmla="*/ 485699 w 485699"/>
                <a:gd name="connsiteY2-16" fmla="*/ 214890 h 798993"/>
                <a:gd name="connsiteX3-17" fmla="*/ 483318 w 485699"/>
                <a:gd name="connsiteY3-18" fmla="*/ 617321 h 798993"/>
                <a:gd name="connsiteX4-19" fmla="*/ 485435 w 485699"/>
                <a:gd name="connsiteY4-20" fmla="*/ 798993 h 798993"/>
                <a:gd name="connsiteX5-21" fmla="*/ 0 w 485699"/>
                <a:gd name="connsiteY5-22" fmla="*/ 798993 h 798993"/>
                <a:gd name="connsiteX6" fmla="*/ 0 w 485699"/>
                <a:gd name="connsiteY6" fmla="*/ 0 h 798993"/>
                <a:gd name="connsiteX0-23" fmla="*/ 0 w 485885"/>
                <a:gd name="connsiteY0-24" fmla="*/ 0 h 798993"/>
                <a:gd name="connsiteX1-25" fmla="*/ 485435 w 485885"/>
                <a:gd name="connsiteY1-26" fmla="*/ 0 h 798993"/>
                <a:gd name="connsiteX2-27" fmla="*/ 485699 w 485885"/>
                <a:gd name="connsiteY2-28" fmla="*/ 214890 h 798993"/>
                <a:gd name="connsiteX3-29" fmla="*/ 485699 w 485885"/>
                <a:gd name="connsiteY3-30" fmla="*/ 293471 h 798993"/>
                <a:gd name="connsiteX4-31" fmla="*/ 483318 w 485885"/>
                <a:gd name="connsiteY4-32" fmla="*/ 617321 h 798993"/>
                <a:gd name="connsiteX5-33" fmla="*/ 485435 w 485885"/>
                <a:gd name="connsiteY5-34" fmla="*/ 798993 h 798993"/>
                <a:gd name="connsiteX6-35" fmla="*/ 0 w 485885"/>
                <a:gd name="connsiteY6-36" fmla="*/ 798993 h 798993"/>
                <a:gd name="connsiteX7" fmla="*/ 0 w 485885"/>
                <a:gd name="connsiteY7" fmla="*/ 0 h 798993"/>
                <a:gd name="connsiteX0-37" fmla="*/ 485699 w 577139"/>
                <a:gd name="connsiteY0-38" fmla="*/ 293471 h 798993"/>
                <a:gd name="connsiteX1-39" fmla="*/ 483318 w 577139"/>
                <a:gd name="connsiteY1-40" fmla="*/ 617321 h 798993"/>
                <a:gd name="connsiteX2-41" fmla="*/ 485435 w 577139"/>
                <a:gd name="connsiteY2-42" fmla="*/ 798993 h 798993"/>
                <a:gd name="connsiteX3-43" fmla="*/ 0 w 577139"/>
                <a:gd name="connsiteY3-44" fmla="*/ 798993 h 798993"/>
                <a:gd name="connsiteX4-45" fmla="*/ 0 w 577139"/>
                <a:gd name="connsiteY4-46" fmla="*/ 0 h 798993"/>
                <a:gd name="connsiteX5-47" fmla="*/ 485435 w 577139"/>
                <a:gd name="connsiteY5-48" fmla="*/ 0 h 798993"/>
                <a:gd name="connsiteX6-49" fmla="*/ 485699 w 577139"/>
                <a:gd name="connsiteY6-50" fmla="*/ 214890 h 798993"/>
                <a:gd name="connsiteX7-51" fmla="*/ 577139 w 577139"/>
                <a:gd name="connsiteY7-52" fmla="*/ 384911 h 798993"/>
                <a:gd name="connsiteX0-53" fmla="*/ 485699 w 485699"/>
                <a:gd name="connsiteY0-54" fmla="*/ 293471 h 798993"/>
                <a:gd name="connsiteX1-55" fmla="*/ 483318 w 485699"/>
                <a:gd name="connsiteY1-56" fmla="*/ 617321 h 798993"/>
                <a:gd name="connsiteX2-57" fmla="*/ 485435 w 485699"/>
                <a:gd name="connsiteY2-58" fmla="*/ 798993 h 798993"/>
                <a:gd name="connsiteX3-59" fmla="*/ 0 w 485699"/>
                <a:gd name="connsiteY3-60" fmla="*/ 798993 h 798993"/>
                <a:gd name="connsiteX4-61" fmla="*/ 0 w 485699"/>
                <a:gd name="connsiteY4-62" fmla="*/ 0 h 798993"/>
                <a:gd name="connsiteX5-63" fmla="*/ 485435 w 485699"/>
                <a:gd name="connsiteY5-64" fmla="*/ 0 h 798993"/>
                <a:gd name="connsiteX6-65" fmla="*/ 485699 w 485699"/>
                <a:gd name="connsiteY6-66" fmla="*/ 214890 h 798993"/>
                <a:gd name="connsiteX0-67" fmla="*/ 483318 w 485699"/>
                <a:gd name="connsiteY0-68" fmla="*/ 617321 h 798993"/>
                <a:gd name="connsiteX1-69" fmla="*/ 485435 w 485699"/>
                <a:gd name="connsiteY1-70" fmla="*/ 798993 h 798993"/>
                <a:gd name="connsiteX2-71" fmla="*/ 0 w 485699"/>
                <a:gd name="connsiteY2-72" fmla="*/ 798993 h 798993"/>
                <a:gd name="connsiteX3-73" fmla="*/ 0 w 485699"/>
                <a:gd name="connsiteY3-74" fmla="*/ 0 h 798993"/>
                <a:gd name="connsiteX4-75" fmla="*/ 485435 w 485699"/>
                <a:gd name="connsiteY4-76" fmla="*/ 0 h 798993"/>
                <a:gd name="connsiteX5-77" fmla="*/ 485699 w 485699"/>
                <a:gd name="connsiteY5-78" fmla="*/ 214890 h 7989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485699" h="798993">
                  <a:moveTo>
                    <a:pt x="483318" y="617321"/>
                  </a:moveTo>
                  <a:cubicBezTo>
                    <a:pt x="484024" y="677878"/>
                    <a:pt x="484729" y="738436"/>
                    <a:pt x="485435" y="798993"/>
                  </a:cubicBezTo>
                  <a:lnTo>
                    <a:pt x="0" y="798993"/>
                  </a:lnTo>
                  <a:lnTo>
                    <a:pt x="0" y="0"/>
                  </a:lnTo>
                  <a:lnTo>
                    <a:pt x="485435" y="0"/>
                  </a:lnTo>
                  <a:lnTo>
                    <a:pt x="485699" y="214890"/>
                  </a:lnTo>
                </a:path>
              </a:pathLst>
            </a:custGeom>
            <a:noFill/>
            <a:ln w="412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914400">
                <a:lnSpc>
                  <a:spcPct val="130000"/>
                </a:lnSpc>
              </a:pPr>
              <a:endParaRPr lang="zh-CN" altLang="en-US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29021" y="872054"/>
              <a:ext cx="18473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endParaRPr lang="en-GB" altLang="zh-CN" sz="1400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32345" y="508074"/>
              <a:ext cx="1787525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白皮书联合撰写</a:t>
              </a:r>
              <a:endParaRPr lang="zh-CN" altLang="en-US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endParaRPr>
            </a:p>
          </p:txBody>
        </p:sp>
      </p:grpSp>
      <p:pic>
        <p:nvPicPr>
          <p:cNvPr id="4" name="图片 3" descr="812d1588ae8a40679daae4a0f1979ea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2211705"/>
            <a:ext cx="5160134" cy="2880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683895" y="690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" name="组合 12"/>
          <p:cNvGrpSpPr/>
          <p:nvPr/>
        </p:nvGrpSpPr>
        <p:grpSpPr>
          <a:xfrm>
            <a:off x="536045" y="255193"/>
            <a:ext cx="8570678" cy="924638"/>
            <a:chOff x="536045" y="255193"/>
            <a:chExt cx="8570678" cy="924638"/>
          </a:xfrm>
        </p:grpSpPr>
        <p:sp>
          <p:nvSpPr>
            <p:cNvPr id="14" name="文本框 13"/>
            <p:cNvSpPr txBox="1"/>
            <p:nvPr/>
          </p:nvSpPr>
          <p:spPr>
            <a:xfrm>
              <a:off x="1021903" y="783698"/>
              <a:ext cx="80848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sz="1400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604020202090204" pitchFamily="34" charset="0"/>
              </a:endParaRPr>
            </a:p>
          </p:txBody>
        </p:sp>
        <p:sp>
          <p:nvSpPr>
            <p:cNvPr id="15" name="矩形 1"/>
            <p:cNvSpPr/>
            <p:nvPr/>
          </p:nvSpPr>
          <p:spPr>
            <a:xfrm>
              <a:off x="536045" y="255193"/>
              <a:ext cx="485699" cy="798993"/>
            </a:xfrm>
            <a:custGeom>
              <a:avLst/>
              <a:gdLst>
                <a:gd name="connsiteX0" fmla="*/ 0 w 485435"/>
                <a:gd name="connsiteY0" fmla="*/ 0 h 798993"/>
                <a:gd name="connsiteX1" fmla="*/ 485435 w 485435"/>
                <a:gd name="connsiteY1" fmla="*/ 0 h 798993"/>
                <a:gd name="connsiteX2" fmla="*/ 485435 w 485435"/>
                <a:gd name="connsiteY2" fmla="*/ 798993 h 798993"/>
                <a:gd name="connsiteX3" fmla="*/ 0 w 485435"/>
                <a:gd name="connsiteY3" fmla="*/ 798993 h 798993"/>
                <a:gd name="connsiteX4" fmla="*/ 0 w 485435"/>
                <a:gd name="connsiteY4" fmla="*/ 0 h 798993"/>
                <a:gd name="connsiteX0-1" fmla="*/ 0 w 485699"/>
                <a:gd name="connsiteY0-2" fmla="*/ 0 h 798993"/>
                <a:gd name="connsiteX1-3" fmla="*/ 485435 w 485699"/>
                <a:gd name="connsiteY1-4" fmla="*/ 0 h 798993"/>
                <a:gd name="connsiteX2-5" fmla="*/ 485699 w 485699"/>
                <a:gd name="connsiteY2-6" fmla="*/ 214890 h 798993"/>
                <a:gd name="connsiteX3-7" fmla="*/ 485435 w 485699"/>
                <a:gd name="connsiteY3-8" fmla="*/ 798993 h 798993"/>
                <a:gd name="connsiteX4-9" fmla="*/ 0 w 485699"/>
                <a:gd name="connsiteY4-10" fmla="*/ 798993 h 798993"/>
                <a:gd name="connsiteX5" fmla="*/ 0 w 485699"/>
                <a:gd name="connsiteY5" fmla="*/ 0 h 798993"/>
                <a:gd name="connsiteX0-11" fmla="*/ 0 w 485699"/>
                <a:gd name="connsiteY0-12" fmla="*/ 0 h 798993"/>
                <a:gd name="connsiteX1-13" fmla="*/ 485435 w 485699"/>
                <a:gd name="connsiteY1-14" fmla="*/ 0 h 798993"/>
                <a:gd name="connsiteX2-15" fmla="*/ 485699 w 485699"/>
                <a:gd name="connsiteY2-16" fmla="*/ 214890 h 798993"/>
                <a:gd name="connsiteX3-17" fmla="*/ 483318 w 485699"/>
                <a:gd name="connsiteY3-18" fmla="*/ 617321 h 798993"/>
                <a:gd name="connsiteX4-19" fmla="*/ 485435 w 485699"/>
                <a:gd name="connsiteY4-20" fmla="*/ 798993 h 798993"/>
                <a:gd name="connsiteX5-21" fmla="*/ 0 w 485699"/>
                <a:gd name="connsiteY5-22" fmla="*/ 798993 h 798993"/>
                <a:gd name="connsiteX6" fmla="*/ 0 w 485699"/>
                <a:gd name="connsiteY6" fmla="*/ 0 h 798993"/>
                <a:gd name="connsiteX0-23" fmla="*/ 0 w 485885"/>
                <a:gd name="connsiteY0-24" fmla="*/ 0 h 798993"/>
                <a:gd name="connsiteX1-25" fmla="*/ 485435 w 485885"/>
                <a:gd name="connsiteY1-26" fmla="*/ 0 h 798993"/>
                <a:gd name="connsiteX2-27" fmla="*/ 485699 w 485885"/>
                <a:gd name="connsiteY2-28" fmla="*/ 214890 h 798993"/>
                <a:gd name="connsiteX3-29" fmla="*/ 485699 w 485885"/>
                <a:gd name="connsiteY3-30" fmla="*/ 293471 h 798993"/>
                <a:gd name="connsiteX4-31" fmla="*/ 483318 w 485885"/>
                <a:gd name="connsiteY4-32" fmla="*/ 617321 h 798993"/>
                <a:gd name="connsiteX5-33" fmla="*/ 485435 w 485885"/>
                <a:gd name="connsiteY5-34" fmla="*/ 798993 h 798993"/>
                <a:gd name="connsiteX6-35" fmla="*/ 0 w 485885"/>
                <a:gd name="connsiteY6-36" fmla="*/ 798993 h 798993"/>
                <a:gd name="connsiteX7" fmla="*/ 0 w 485885"/>
                <a:gd name="connsiteY7" fmla="*/ 0 h 798993"/>
                <a:gd name="connsiteX0-37" fmla="*/ 485699 w 577139"/>
                <a:gd name="connsiteY0-38" fmla="*/ 293471 h 798993"/>
                <a:gd name="connsiteX1-39" fmla="*/ 483318 w 577139"/>
                <a:gd name="connsiteY1-40" fmla="*/ 617321 h 798993"/>
                <a:gd name="connsiteX2-41" fmla="*/ 485435 w 577139"/>
                <a:gd name="connsiteY2-42" fmla="*/ 798993 h 798993"/>
                <a:gd name="connsiteX3-43" fmla="*/ 0 w 577139"/>
                <a:gd name="connsiteY3-44" fmla="*/ 798993 h 798993"/>
                <a:gd name="connsiteX4-45" fmla="*/ 0 w 577139"/>
                <a:gd name="connsiteY4-46" fmla="*/ 0 h 798993"/>
                <a:gd name="connsiteX5-47" fmla="*/ 485435 w 577139"/>
                <a:gd name="connsiteY5-48" fmla="*/ 0 h 798993"/>
                <a:gd name="connsiteX6-49" fmla="*/ 485699 w 577139"/>
                <a:gd name="connsiteY6-50" fmla="*/ 214890 h 798993"/>
                <a:gd name="connsiteX7-51" fmla="*/ 577139 w 577139"/>
                <a:gd name="connsiteY7-52" fmla="*/ 384911 h 798993"/>
                <a:gd name="connsiteX0-53" fmla="*/ 485699 w 485699"/>
                <a:gd name="connsiteY0-54" fmla="*/ 293471 h 798993"/>
                <a:gd name="connsiteX1-55" fmla="*/ 483318 w 485699"/>
                <a:gd name="connsiteY1-56" fmla="*/ 617321 h 798993"/>
                <a:gd name="connsiteX2-57" fmla="*/ 485435 w 485699"/>
                <a:gd name="connsiteY2-58" fmla="*/ 798993 h 798993"/>
                <a:gd name="connsiteX3-59" fmla="*/ 0 w 485699"/>
                <a:gd name="connsiteY3-60" fmla="*/ 798993 h 798993"/>
                <a:gd name="connsiteX4-61" fmla="*/ 0 w 485699"/>
                <a:gd name="connsiteY4-62" fmla="*/ 0 h 798993"/>
                <a:gd name="connsiteX5-63" fmla="*/ 485435 w 485699"/>
                <a:gd name="connsiteY5-64" fmla="*/ 0 h 798993"/>
                <a:gd name="connsiteX6-65" fmla="*/ 485699 w 485699"/>
                <a:gd name="connsiteY6-66" fmla="*/ 214890 h 798993"/>
                <a:gd name="connsiteX0-67" fmla="*/ 483318 w 485699"/>
                <a:gd name="connsiteY0-68" fmla="*/ 617321 h 798993"/>
                <a:gd name="connsiteX1-69" fmla="*/ 485435 w 485699"/>
                <a:gd name="connsiteY1-70" fmla="*/ 798993 h 798993"/>
                <a:gd name="connsiteX2-71" fmla="*/ 0 w 485699"/>
                <a:gd name="connsiteY2-72" fmla="*/ 798993 h 798993"/>
                <a:gd name="connsiteX3-73" fmla="*/ 0 w 485699"/>
                <a:gd name="connsiteY3-74" fmla="*/ 0 h 798993"/>
                <a:gd name="connsiteX4-75" fmla="*/ 485435 w 485699"/>
                <a:gd name="connsiteY4-76" fmla="*/ 0 h 798993"/>
                <a:gd name="connsiteX5-77" fmla="*/ 485699 w 485699"/>
                <a:gd name="connsiteY5-78" fmla="*/ 214890 h 7989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485699" h="798993">
                  <a:moveTo>
                    <a:pt x="483318" y="617321"/>
                  </a:moveTo>
                  <a:cubicBezTo>
                    <a:pt x="484024" y="677878"/>
                    <a:pt x="484729" y="738436"/>
                    <a:pt x="485435" y="798993"/>
                  </a:cubicBezTo>
                  <a:lnTo>
                    <a:pt x="0" y="798993"/>
                  </a:lnTo>
                  <a:lnTo>
                    <a:pt x="0" y="0"/>
                  </a:lnTo>
                  <a:lnTo>
                    <a:pt x="485435" y="0"/>
                  </a:lnTo>
                  <a:lnTo>
                    <a:pt x="485699" y="214890"/>
                  </a:lnTo>
                </a:path>
              </a:pathLst>
            </a:custGeom>
            <a:noFill/>
            <a:ln w="412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914400">
                <a:lnSpc>
                  <a:spcPct val="130000"/>
                </a:lnSpc>
              </a:pPr>
              <a:endParaRPr lang="zh-CN" altLang="en-US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29021" y="872054"/>
              <a:ext cx="18473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endParaRPr lang="en-GB" altLang="zh-CN" sz="1400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32345" y="508074"/>
              <a:ext cx="7041515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Key Findings 01: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人工智能仍为投研第一重心</a:t>
              </a:r>
              <a:r>
                <a:rPr lang="en-US" altLang="zh-CN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 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深度学习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实盘占比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加大</a:t>
              </a:r>
              <a:endParaRPr lang="zh-CN" altLang="en-US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61645" y="1983105"/>
            <a:ext cx="537337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E65C5D"/>
                </a:solidFill>
                <a:latin typeface="PingFang SC" panose="020B0400000000000000" charset="-122"/>
                <a:ea typeface="PingFang SC" panose="020B0400000000000000" charset="-122"/>
                <a:cs typeface="PingFang SC Regular" panose="020B0400000000000000" charset="-122"/>
                <a:sym typeface="+mn-ea"/>
              </a:rPr>
              <a:t>■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图表</a:t>
            </a:r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2025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年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量化机构的策略迭代重心</a:t>
            </a:r>
            <a:endParaRPr lang="zh-CN" altLang="en-US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*1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为完全不重视，</a:t>
            </a:r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为极度重视</a:t>
            </a:r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矩阵量表题</a:t>
            </a:r>
            <a:endParaRPr lang="zh-CN" altLang="en-US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461645" y="2886075"/>
            <a:ext cx="11268133" cy="3060000"/>
            <a:chOff x="230" y="3304"/>
            <a:chExt cx="18806" cy="5107"/>
          </a:xfrm>
        </p:grpSpPr>
        <p:pic>
          <p:nvPicPr>
            <p:cNvPr id="8" name="图片 7" descr="chart - 2026-04-01T165441.0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94" y="3304"/>
              <a:ext cx="12642" cy="5100"/>
            </a:xfrm>
            <a:prstGeom prst="rect">
              <a:avLst/>
            </a:prstGeom>
          </p:spPr>
        </p:pic>
        <p:pic>
          <p:nvPicPr>
            <p:cNvPr id="9" name="图片 8" descr="chart - 2026-04-01T165511.135"/>
            <p:cNvPicPr>
              <a:picLocks noChangeAspect="1"/>
            </p:cNvPicPr>
            <p:nvPr/>
          </p:nvPicPr>
          <p:blipFill>
            <a:blip r:embed="rId2"/>
            <a:srcRect l="23986" r="23795"/>
            <a:stretch>
              <a:fillRect/>
            </a:stretch>
          </p:blipFill>
          <p:spPr>
            <a:xfrm>
              <a:off x="230" y="3311"/>
              <a:ext cx="6000" cy="5100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4154805" y="1952942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algn="just" defTabSz="266700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E65C5D"/>
                </a:solidFill>
                <a:latin typeface="PingFang SC" panose="020B0400000000000000" charset="-122"/>
                <a:ea typeface="PingFang SC" panose="020B0400000000000000" charset="-122"/>
                <a:cs typeface="PingFang SC Regular" panose="020B0400000000000000" charset="-122"/>
                <a:sym typeface="+mn-ea"/>
              </a:rPr>
              <a:t>■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图表</a:t>
            </a:r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量化</a:t>
            </a:r>
            <a:r>
              <a:rPr lang="zh-CN" altLang="en-US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机构2025年深度学习模型部分实盘状况</a:t>
            </a:r>
            <a:endParaRPr lang="zh-CN" altLang="en-US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五边形 1"/>
          <p:cNvSpPr/>
          <p:nvPr>
            <p:custDataLst>
              <p:tags r:id="rId1"/>
            </p:custDataLst>
          </p:nvPr>
        </p:nvSpPr>
        <p:spPr>
          <a:xfrm>
            <a:off x="851535" y="2110105"/>
            <a:ext cx="2099310" cy="337820"/>
          </a:xfrm>
          <a:prstGeom prst="homePlate">
            <a:avLst/>
          </a:prstGeom>
          <a:gradFill>
            <a:gsLst>
              <a:gs pos="28000">
                <a:schemeClr val="accent6"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chemeClr val="bg1">
                    <a:alpha val="55000"/>
                  </a:schemeClr>
                </a:solidFill>
                <a:sym typeface="+mn-ea"/>
              </a:rPr>
              <a:t>数据</a:t>
            </a:r>
            <a:endParaRPr lang="zh-CN" altLang="en-US" sz="1600" b="1">
              <a:solidFill>
                <a:schemeClr val="bg1">
                  <a:alpha val="55000"/>
                </a:schemeClr>
              </a:solidFill>
              <a:sym typeface="+mn-ea"/>
            </a:endParaRPr>
          </a:p>
        </p:txBody>
      </p:sp>
      <p:sp>
        <p:nvSpPr>
          <p:cNvPr id="4" name="燕尾形 3"/>
          <p:cNvSpPr/>
          <p:nvPr>
            <p:custDataLst>
              <p:tags r:id="rId2"/>
            </p:custDataLst>
          </p:nvPr>
        </p:nvSpPr>
        <p:spPr>
          <a:xfrm>
            <a:off x="2947670" y="2110105"/>
            <a:ext cx="2099310" cy="337820"/>
          </a:xfrm>
          <a:prstGeom prst="chevron">
            <a:avLst/>
          </a:prstGeom>
          <a:gradFill>
            <a:gsLst>
              <a:gs pos="59000">
                <a:schemeClr val="accent6"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因子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9" name="燕尾形 8"/>
          <p:cNvSpPr/>
          <p:nvPr>
            <p:custDataLst>
              <p:tags r:id="rId3"/>
            </p:custDataLst>
          </p:nvPr>
        </p:nvSpPr>
        <p:spPr>
          <a:xfrm>
            <a:off x="5046980" y="2110105"/>
            <a:ext cx="2099310" cy="337820"/>
          </a:xfrm>
          <a:prstGeom prst="chevron">
            <a:avLst/>
          </a:prstGeom>
          <a:gradFill>
            <a:gsLst>
              <a:gs pos="28000">
                <a:schemeClr val="accent6"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模型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13" name="燕尾形 12"/>
          <p:cNvSpPr/>
          <p:nvPr>
            <p:custDataLst>
              <p:tags r:id="rId4"/>
            </p:custDataLst>
          </p:nvPr>
        </p:nvSpPr>
        <p:spPr>
          <a:xfrm>
            <a:off x="7143115" y="2110105"/>
            <a:ext cx="2099310" cy="337820"/>
          </a:xfrm>
          <a:prstGeom prst="chevron">
            <a:avLst/>
          </a:prstGeom>
          <a:gradFill>
            <a:gsLst>
              <a:gs pos="59000">
                <a:schemeClr val="accent6"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组合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pic>
        <p:nvPicPr>
          <p:cNvPr id="22" name="图片 21" descr="343435383037343b343532333834383bcec4bedf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27780" y="1507490"/>
            <a:ext cx="337820" cy="337820"/>
          </a:xfrm>
          <a:prstGeom prst="rect">
            <a:avLst/>
          </a:prstGeom>
        </p:spPr>
      </p:pic>
      <p:pic>
        <p:nvPicPr>
          <p:cNvPr id="39" name="图片 38" descr="343435383036303b343532343134363bbbe1d2e9bcc6bbae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7520" y="1506855"/>
            <a:ext cx="337820" cy="337820"/>
          </a:xfrm>
          <a:prstGeom prst="rect">
            <a:avLst/>
          </a:prstGeom>
        </p:spPr>
      </p:pic>
      <p:cxnSp>
        <p:nvCxnSpPr>
          <p:cNvPr id="41" name="直接连接符 40"/>
          <p:cNvCxnSpPr/>
          <p:nvPr>
            <p:custDataLst>
              <p:tags r:id="rId11"/>
            </p:custDataLst>
          </p:nvPr>
        </p:nvCxnSpPr>
        <p:spPr>
          <a:xfrm>
            <a:off x="2947035" y="2712085"/>
            <a:ext cx="0" cy="9759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>
            <p:custDataLst>
              <p:tags r:id="rId12"/>
            </p:custDataLst>
          </p:nvPr>
        </p:nvCxnSpPr>
        <p:spPr>
          <a:xfrm>
            <a:off x="7144385" y="2712085"/>
            <a:ext cx="0" cy="24625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正文"/>
          <p:cNvSpPr txBox="1"/>
          <p:nvPr>
            <p:custDataLst>
              <p:tags r:id="rId13"/>
            </p:custDataLst>
          </p:nvPr>
        </p:nvSpPr>
        <p:spPr>
          <a:xfrm>
            <a:off x="1090295" y="3049905"/>
            <a:ext cx="1620520" cy="433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原始行情流（Raw Data）</a:t>
            </a:r>
            <a:endParaRPr lang="zh-CN" altLang="en-US" sz="10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追求最低信息损耗</a:t>
            </a:r>
            <a:endParaRPr lang="zh-CN" altLang="en-US" sz="10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52" name="正文"/>
          <p:cNvSpPr txBox="1"/>
          <p:nvPr>
            <p:custDataLst>
              <p:tags r:id="rId14"/>
            </p:custDataLst>
          </p:nvPr>
        </p:nvSpPr>
        <p:spPr>
          <a:xfrm>
            <a:off x="3186430" y="3071495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弱特征输入</a:t>
            </a:r>
            <a:endParaRPr lang="zh-CN" altLang="en-US" sz="9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取消人工定义的复杂因子层</a:t>
            </a:r>
            <a:endParaRPr lang="zh-CN" altLang="en-US" sz="9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53" name="标题"/>
          <p:cNvSpPr txBox="1"/>
          <p:nvPr>
            <p:custDataLst>
              <p:tags r:id="rId15"/>
            </p:custDataLst>
          </p:nvPr>
        </p:nvSpPr>
        <p:spPr>
          <a:xfrm>
            <a:off x="3186430" y="2808605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  <a:sym typeface="+mn-ea"/>
              </a:rPr>
              <a:t>42.15%</a:t>
            </a:r>
            <a:endParaRPr lang="en-US" altLang="zh-CN" sz="2400" b="1" dirty="0">
              <a:solidFill>
                <a:schemeClr val="accent6"/>
              </a:solidFill>
              <a:latin typeface="微软雅黑" charset="-122"/>
              <a:sym typeface="+mn-ea"/>
            </a:endParaRPr>
          </a:p>
        </p:txBody>
      </p:sp>
      <p:sp>
        <p:nvSpPr>
          <p:cNvPr id="56" name="正文"/>
          <p:cNvSpPr txBox="1"/>
          <p:nvPr>
            <p:custDataLst>
              <p:tags r:id="rId16"/>
            </p:custDataLst>
          </p:nvPr>
        </p:nvSpPr>
        <p:spPr>
          <a:xfrm>
            <a:off x="7392035" y="3168650"/>
            <a:ext cx="1619885" cy="5187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输出股票相对排序，与传统预测模型一致</a:t>
            </a:r>
            <a:endParaRPr lang="zh-CN" altLang="en-US" sz="9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57" name="标题"/>
          <p:cNvSpPr txBox="1"/>
          <p:nvPr>
            <p:custDataLst>
              <p:tags r:id="rId17"/>
            </p:custDataLst>
          </p:nvPr>
        </p:nvSpPr>
        <p:spPr>
          <a:xfrm>
            <a:off x="7392035" y="2808605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</a:rPr>
              <a:t>33</a:t>
            </a:r>
            <a:r>
              <a:rPr lang="zh-CN" altLang="en-US" sz="2400" b="1" dirty="0">
                <a:solidFill>
                  <a:schemeClr val="accent6"/>
                </a:solidFill>
                <a:latin typeface="微软雅黑" charset="-122"/>
              </a:rPr>
              <a:t>.6</a:t>
            </a:r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</a:rPr>
              <a:t>3</a:t>
            </a:r>
            <a:r>
              <a:rPr lang="zh-CN" altLang="en-US" sz="2400" b="1" dirty="0">
                <a:solidFill>
                  <a:schemeClr val="accent6"/>
                </a:solidFill>
                <a:latin typeface="微软雅黑" charset="-122"/>
              </a:rPr>
              <a:t>%</a:t>
            </a:r>
            <a:endParaRPr lang="zh-CN" altLang="en-US" sz="2400" b="1" dirty="0">
              <a:solidFill>
                <a:schemeClr val="accent6"/>
              </a:solidFill>
              <a:latin typeface="微软雅黑" charset="-122"/>
            </a:endParaRPr>
          </a:p>
        </p:txBody>
      </p:sp>
      <p:pic>
        <p:nvPicPr>
          <p:cNvPr id="24" name="图片 23" descr="343439383331313b343532303034303bcffacadbb9dcc0ed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39680" y="1506855"/>
            <a:ext cx="338400" cy="338400"/>
          </a:xfrm>
          <a:prstGeom prst="rect">
            <a:avLst/>
          </a:prstGeom>
        </p:spPr>
      </p:pic>
      <p:sp>
        <p:nvSpPr>
          <p:cNvPr id="3" name="燕尾形 2"/>
          <p:cNvSpPr/>
          <p:nvPr>
            <p:custDataLst>
              <p:tags r:id="rId21"/>
            </p:custDataLst>
          </p:nvPr>
        </p:nvSpPr>
        <p:spPr>
          <a:xfrm>
            <a:off x="9242425" y="2110105"/>
            <a:ext cx="2099310" cy="337820"/>
          </a:xfrm>
          <a:prstGeom prst="chevron">
            <a:avLst/>
          </a:prstGeom>
          <a:gradFill>
            <a:gsLst>
              <a:gs pos="28000">
                <a:schemeClr val="accent6"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交易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22"/>
            </p:custDataLst>
          </p:nvPr>
        </p:nvCxnSpPr>
        <p:spPr>
          <a:xfrm>
            <a:off x="9243060" y="2712720"/>
            <a:ext cx="0" cy="24625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正文"/>
          <p:cNvSpPr txBox="1"/>
          <p:nvPr>
            <p:custDataLst>
              <p:tags r:id="rId23"/>
            </p:custDataLst>
          </p:nvPr>
        </p:nvSpPr>
        <p:spPr>
          <a:xfrm>
            <a:off x="9498965" y="3168650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结合强化学习（RL），直接输出持仓权重，跳过传统组合优化器</a:t>
            </a:r>
            <a:endParaRPr lang="zh-CN" altLang="en-US" sz="10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10" name="标题"/>
          <p:cNvSpPr txBox="1"/>
          <p:nvPr>
            <p:custDataLst>
              <p:tags r:id="rId24"/>
            </p:custDataLst>
          </p:nvPr>
        </p:nvSpPr>
        <p:spPr>
          <a:xfrm>
            <a:off x="9498965" y="2808605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</a:rPr>
              <a:t>43.15%</a:t>
            </a:r>
            <a:endParaRPr lang="en-US" altLang="zh-CN" sz="2400" b="1" dirty="0">
              <a:solidFill>
                <a:schemeClr val="accent6"/>
              </a:solidFill>
              <a:latin typeface="微软雅黑" charset="-122"/>
            </a:endParaRPr>
          </a:p>
        </p:txBody>
      </p:sp>
      <p:pic>
        <p:nvPicPr>
          <p:cNvPr id="6" name="图片 5" descr="股市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721485" y="1506855"/>
            <a:ext cx="360000" cy="360000"/>
          </a:xfrm>
          <a:prstGeom prst="rect">
            <a:avLst/>
          </a:prstGeom>
        </p:spPr>
      </p:pic>
      <p:pic>
        <p:nvPicPr>
          <p:cNvPr id="11" name="图片 10" descr="产品模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11850" y="1520825"/>
            <a:ext cx="360000" cy="360000"/>
          </a:xfrm>
          <a:prstGeom prst="rect">
            <a:avLst/>
          </a:prstGeom>
        </p:spPr>
      </p:pic>
      <p:sp>
        <p:nvSpPr>
          <p:cNvPr id="12" name="标题"/>
          <p:cNvSpPr txBox="1"/>
          <p:nvPr>
            <p:custDataLst>
              <p:tags r:id="rId29"/>
            </p:custDataLst>
          </p:nvPr>
        </p:nvSpPr>
        <p:spPr>
          <a:xfrm>
            <a:off x="1064895" y="2750820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</a:rPr>
              <a:t>33.81%</a:t>
            </a:r>
            <a:endParaRPr lang="en-US" altLang="zh-CN" sz="2400" b="1" dirty="0">
              <a:solidFill>
                <a:schemeClr val="accent6"/>
              </a:solidFill>
              <a:latin typeface="微软雅黑" charset="-122"/>
            </a:endParaRPr>
          </a:p>
        </p:txBody>
      </p:sp>
      <p:sp>
        <p:nvSpPr>
          <p:cNvPr id="16" name="正文"/>
          <p:cNvSpPr txBox="1"/>
          <p:nvPr>
            <p:custDataLst>
              <p:tags r:id="rId30"/>
            </p:custDataLst>
          </p:nvPr>
        </p:nvSpPr>
        <p:spPr>
          <a:xfrm>
            <a:off x="1114425" y="4082415"/>
            <a:ext cx="6028055" cy="433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特征/模型联合优化：保持特征挖掘，但在深度学习框架下与收益预测进行同步训练</a:t>
            </a:r>
            <a:endParaRPr lang="zh-CN" altLang="en-US" sz="10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17" name="标题"/>
          <p:cNvSpPr txBox="1"/>
          <p:nvPr>
            <p:custDataLst>
              <p:tags r:id="rId31"/>
            </p:custDataLst>
          </p:nvPr>
        </p:nvSpPr>
        <p:spPr>
          <a:xfrm>
            <a:off x="3620135" y="3780790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</a:rPr>
              <a:t>53.81%</a:t>
            </a:r>
            <a:endParaRPr lang="en-US" altLang="zh-CN" sz="2400" b="1" dirty="0">
              <a:solidFill>
                <a:schemeClr val="accent6"/>
              </a:solidFill>
              <a:latin typeface="微软雅黑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32"/>
            </p:custDataLst>
          </p:nvPr>
        </p:nvCxnSpPr>
        <p:spPr>
          <a:xfrm>
            <a:off x="4939665" y="2626360"/>
            <a:ext cx="0" cy="9759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33"/>
            </p:custDataLst>
          </p:nvPr>
        </p:nvCxnSpPr>
        <p:spPr>
          <a:xfrm flipH="1">
            <a:off x="1312545" y="3734435"/>
            <a:ext cx="54197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正文"/>
          <p:cNvSpPr txBox="1"/>
          <p:nvPr>
            <p:custDataLst>
              <p:tags r:id="rId34"/>
            </p:custDataLst>
          </p:nvPr>
        </p:nvSpPr>
        <p:spPr>
          <a:xfrm>
            <a:off x="9482455" y="4565015"/>
            <a:ext cx="1619885" cy="5187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输出持仓权重，绩效指标（如夏普比率、PnL）作为奖励函数（Reward）直接进行训练</a:t>
            </a:r>
            <a:endParaRPr lang="zh-CN" altLang="en-US" sz="9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27" name="标题"/>
          <p:cNvSpPr txBox="1"/>
          <p:nvPr>
            <p:custDataLst>
              <p:tags r:id="rId35"/>
            </p:custDataLst>
          </p:nvPr>
        </p:nvSpPr>
        <p:spPr>
          <a:xfrm>
            <a:off x="9482455" y="4204970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2400" b="1" dirty="0">
                <a:solidFill>
                  <a:schemeClr val="accent6"/>
                </a:solidFill>
                <a:latin typeface="微软雅黑" charset="-122"/>
              </a:rPr>
              <a:t>39.46%</a:t>
            </a:r>
            <a:endParaRPr lang="zh-CN" altLang="en-US" sz="2400" b="1" dirty="0">
              <a:solidFill>
                <a:schemeClr val="accent6"/>
              </a:solidFill>
              <a:latin typeface="微软雅黑" charset="-122"/>
            </a:endParaRPr>
          </a:p>
        </p:txBody>
      </p:sp>
      <p:sp>
        <p:nvSpPr>
          <p:cNvPr id="28" name="正文"/>
          <p:cNvSpPr txBox="1"/>
          <p:nvPr>
            <p:custDataLst>
              <p:tags r:id="rId36"/>
            </p:custDataLst>
          </p:nvPr>
        </p:nvSpPr>
        <p:spPr>
          <a:xfrm>
            <a:off x="9544050" y="5584190"/>
            <a:ext cx="1619885" cy="5187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端到端执行：模型直接输出交易指令，预测与执行一体化</a:t>
            </a:r>
            <a:endParaRPr lang="zh-CN" altLang="en-US" sz="9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29" name="标题"/>
          <p:cNvSpPr txBox="1"/>
          <p:nvPr>
            <p:custDataLst>
              <p:tags r:id="rId37"/>
            </p:custDataLst>
          </p:nvPr>
        </p:nvSpPr>
        <p:spPr>
          <a:xfrm>
            <a:off x="9544050" y="5224145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</a:rPr>
              <a:t>28.25%</a:t>
            </a:r>
            <a:endParaRPr lang="en-US" altLang="zh-CN" sz="2400" b="1" dirty="0">
              <a:solidFill>
                <a:schemeClr val="accent6"/>
              </a:solidFill>
              <a:latin typeface="微软雅黑" charset="-122"/>
            </a:endParaRPr>
          </a:p>
        </p:txBody>
      </p:sp>
      <p:sp>
        <p:nvSpPr>
          <p:cNvPr id="31" name="正文"/>
          <p:cNvSpPr txBox="1"/>
          <p:nvPr>
            <p:custDataLst>
              <p:tags r:id="rId38"/>
            </p:custDataLst>
          </p:nvPr>
        </p:nvSpPr>
        <p:spPr>
          <a:xfrm>
            <a:off x="5281930" y="3032760"/>
            <a:ext cx="1620000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uFillTx/>
                <a:latin typeface="微软雅黑" charset="-122"/>
                <a:sym typeface="+mn-ea"/>
              </a:rPr>
              <a:t>灰盒折衷：要求中间层（如CNN特征图）必须具备微观结构可解释性，否则不实盘</a:t>
            </a:r>
            <a:endParaRPr lang="zh-CN" altLang="en-US" sz="900" dirty="0">
              <a:solidFill>
                <a:schemeClr val="bg1"/>
              </a:solidFill>
              <a:uFillTx/>
              <a:latin typeface="微软雅黑" charset="-122"/>
              <a:sym typeface="+mn-ea"/>
            </a:endParaRPr>
          </a:p>
        </p:txBody>
      </p:sp>
      <p:sp>
        <p:nvSpPr>
          <p:cNvPr id="32" name="标题"/>
          <p:cNvSpPr txBox="1"/>
          <p:nvPr>
            <p:custDataLst>
              <p:tags r:id="rId39"/>
            </p:custDataLst>
          </p:nvPr>
        </p:nvSpPr>
        <p:spPr>
          <a:xfrm>
            <a:off x="5281930" y="2769870"/>
            <a:ext cx="162000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en-US" altLang="zh-CN" sz="2400" b="1" dirty="0">
                <a:solidFill>
                  <a:schemeClr val="accent6"/>
                </a:solidFill>
                <a:latin typeface="微软雅黑" charset="-122"/>
                <a:sym typeface="+mn-ea"/>
              </a:rPr>
              <a:t>38.57%</a:t>
            </a:r>
            <a:endParaRPr lang="en-US" altLang="zh-CN" sz="2400" b="1" dirty="0">
              <a:solidFill>
                <a:schemeClr val="accent6"/>
              </a:solidFill>
              <a:latin typeface="微软雅黑" charset="-122"/>
              <a:sym typeface="+mn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36045" y="255193"/>
            <a:ext cx="8570678" cy="924638"/>
            <a:chOff x="536045" y="255193"/>
            <a:chExt cx="8570678" cy="924638"/>
          </a:xfrm>
        </p:grpSpPr>
        <p:sp>
          <p:nvSpPr>
            <p:cNvPr id="35" name="文本框 34"/>
            <p:cNvSpPr txBox="1"/>
            <p:nvPr/>
          </p:nvSpPr>
          <p:spPr>
            <a:xfrm>
              <a:off x="1021903" y="783698"/>
              <a:ext cx="80848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sz="1400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604020202090204" pitchFamily="34" charset="0"/>
              </a:endParaRPr>
            </a:p>
          </p:txBody>
        </p:sp>
        <p:sp>
          <p:nvSpPr>
            <p:cNvPr id="36" name="矩形 1"/>
            <p:cNvSpPr/>
            <p:nvPr/>
          </p:nvSpPr>
          <p:spPr>
            <a:xfrm>
              <a:off x="536045" y="255193"/>
              <a:ext cx="485699" cy="798993"/>
            </a:xfrm>
            <a:custGeom>
              <a:avLst/>
              <a:gdLst>
                <a:gd name="connsiteX0" fmla="*/ 0 w 485435"/>
                <a:gd name="connsiteY0" fmla="*/ 0 h 798993"/>
                <a:gd name="connsiteX1" fmla="*/ 485435 w 485435"/>
                <a:gd name="connsiteY1" fmla="*/ 0 h 798993"/>
                <a:gd name="connsiteX2" fmla="*/ 485435 w 485435"/>
                <a:gd name="connsiteY2" fmla="*/ 798993 h 798993"/>
                <a:gd name="connsiteX3" fmla="*/ 0 w 485435"/>
                <a:gd name="connsiteY3" fmla="*/ 798993 h 798993"/>
                <a:gd name="connsiteX4" fmla="*/ 0 w 485435"/>
                <a:gd name="connsiteY4" fmla="*/ 0 h 798993"/>
                <a:gd name="connsiteX0-1" fmla="*/ 0 w 485699"/>
                <a:gd name="connsiteY0-2" fmla="*/ 0 h 798993"/>
                <a:gd name="connsiteX1-3" fmla="*/ 485435 w 485699"/>
                <a:gd name="connsiteY1-4" fmla="*/ 0 h 798993"/>
                <a:gd name="connsiteX2-5" fmla="*/ 485699 w 485699"/>
                <a:gd name="connsiteY2-6" fmla="*/ 214890 h 798993"/>
                <a:gd name="connsiteX3-7" fmla="*/ 485435 w 485699"/>
                <a:gd name="connsiteY3-8" fmla="*/ 798993 h 798993"/>
                <a:gd name="connsiteX4-9" fmla="*/ 0 w 485699"/>
                <a:gd name="connsiteY4-10" fmla="*/ 798993 h 798993"/>
                <a:gd name="connsiteX5" fmla="*/ 0 w 485699"/>
                <a:gd name="connsiteY5" fmla="*/ 0 h 798993"/>
                <a:gd name="connsiteX0-11" fmla="*/ 0 w 485699"/>
                <a:gd name="connsiteY0-12" fmla="*/ 0 h 798993"/>
                <a:gd name="connsiteX1-13" fmla="*/ 485435 w 485699"/>
                <a:gd name="connsiteY1-14" fmla="*/ 0 h 798993"/>
                <a:gd name="connsiteX2-15" fmla="*/ 485699 w 485699"/>
                <a:gd name="connsiteY2-16" fmla="*/ 214890 h 798993"/>
                <a:gd name="connsiteX3-17" fmla="*/ 483318 w 485699"/>
                <a:gd name="connsiteY3-18" fmla="*/ 617321 h 798993"/>
                <a:gd name="connsiteX4-19" fmla="*/ 485435 w 485699"/>
                <a:gd name="connsiteY4-20" fmla="*/ 798993 h 798993"/>
                <a:gd name="connsiteX5-21" fmla="*/ 0 w 485699"/>
                <a:gd name="connsiteY5-22" fmla="*/ 798993 h 798993"/>
                <a:gd name="connsiteX6" fmla="*/ 0 w 485699"/>
                <a:gd name="connsiteY6" fmla="*/ 0 h 798993"/>
                <a:gd name="connsiteX0-23" fmla="*/ 0 w 485885"/>
                <a:gd name="connsiteY0-24" fmla="*/ 0 h 798993"/>
                <a:gd name="connsiteX1-25" fmla="*/ 485435 w 485885"/>
                <a:gd name="connsiteY1-26" fmla="*/ 0 h 798993"/>
                <a:gd name="connsiteX2-27" fmla="*/ 485699 w 485885"/>
                <a:gd name="connsiteY2-28" fmla="*/ 214890 h 798993"/>
                <a:gd name="connsiteX3-29" fmla="*/ 485699 w 485885"/>
                <a:gd name="connsiteY3-30" fmla="*/ 293471 h 798993"/>
                <a:gd name="connsiteX4-31" fmla="*/ 483318 w 485885"/>
                <a:gd name="connsiteY4-32" fmla="*/ 617321 h 798993"/>
                <a:gd name="connsiteX5-33" fmla="*/ 485435 w 485885"/>
                <a:gd name="connsiteY5-34" fmla="*/ 798993 h 798993"/>
                <a:gd name="connsiteX6-35" fmla="*/ 0 w 485885"/>
                <a:gd name="connsiteY6-36" fmla="*/ 798993 h 798993"/>
                <a:gd name="connsiteX7" fmla="*/ 0 w 485885"/>
                <a:gd name="connsiteY7" fmla="*/ 0 h 798993"/>
                <a:gd name="connsiteX0-37" fmla="*/ 485699 w 577139"/>
                <a:gd name="connsiteY0-38" fmla="*/ 293471 h 798993"/>
                <a:gd name="connsiteX1-39" fmla="*/ 483318 w 577139"/>
                <a:gd name="connsiteY1-40" fmla="*/ 617321 h 798993"/>
                <a:gd name="connsiteX2-41" fmla="*/ 485435 w 577139"/>
                <a:gd name="connsiteY2-42" fmla="*/ 798993 h 798993"/>
                <a:gd name="connsiteX3-43" fmla="*/ 0 w 577139"/>
                <a:gd name="connsiteY3-44" fmla="*/ 798993 h 798993"/>
                <a:gd name="connsiteX4-45" fmla="*/ 0 w 577139"/>
                <a:gd name="connsiteY4-46" fmla="*/ 0 h 798993"/>
                <a:gd name="connsiteX5-47" fmla="*/ 485435 w 577139"/>
                <a:gd name="connsiteY5-48" fmla="*/ 0 h 798993"/>
                <a:gd name="connsiteX6-49" fmla="*/ 485699 w 577139"/>
                <a:gd name="connsiteY6-50" fmla="*/ 214890 h 798993"/>
                <a:gd name="connsiteX7-51" fmla="*/ 577139 w 577139"/>
                <a:gd name="connsiteY7-52" fmla="*/ 384911 h 798993"/>
                <a:gd name="connsiteX0-53" fmla="*/ 485699 w 485699"/>
                <a:gd name="connsiteY0-54" fmla="*/ 293471 h 798993"/>
                <a:gd name="connsiteX1-55" fmla="*/ 483318 w 485699"/>
                <a:gd name="connsiteY1-56" fmla="*/ 617321 h 798993"/>
                <a:gd name="connsiteX2-57" fmla="*/ 485435 w 485699"/>
                <a:gd name="connsiteY2-58" fmla="*/ 798993 h 798993"/>
                <a:gd name="connsiteX3-59" fmla="*/ 0 w 485699"/>
                <a:gd name="connsiteY3-60" fmla="*/ 798993 h 798993"/>
                <a:gd name="connsiteX4-61" fmla="*/ 0 w 485699"/>
                <a:gd name="connsiteY4-62" fmla="*/ 0 h 798993"/>
                <a:gd name="connsiteX5-63" fmla="*/ 485435 w 485699"/>
                <a:gd name="connsiteY5-64" fmla="*/ 0 h 798993"/>
                <a:gd name="connsiteX6-65" fmla="*/ 485699 w 485699"/>
                <a:gd name="connsiteY6-66" fmla="*/ 214890 h 798993"/>
                <a:gd name="connsiteX0-67" fmla="*/ 483318 w 485699"/>
                <a:gd name="connsiteY0-68" fmla="*/ 617321 h 798993"/>
                <a:gd name="connsiteX1-69" fmla="*/ 485435 w 485699"/>
                <a:gd name="connsiteY1-70" fmla="*/ 798993 h 798993"/>
                <a:gd name="connsiteX2-71" fmla="*/ 0 w 485699"/>
                <a:gd name="connsiteY2-72" fmla="*/ 798993 h 798993"/>
                <a:gd name="connsiteX3-73" fmla="*/ 0 w 485699"/>
                <a:gd name="connsiteY3-74" fmla="*/ 0 h 798993"/>
                <a:gd name="connsiteX4-75" fmla="*/ 485435 w 485699"/>
                <a:gd name="connsiteY4-76" fmla="*/ 0 h 798993"/>
                <a:gd name="connsiteX5-77" fmla="*/ 485699 w 485699"/>
                <a:gd name="connsiteY5-78" fmla="*/ 214890 h 7989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485699" h="798993">
                  <a:moveTo>
                    <a:pt x="483318" y="617321"/>
                  </a:moveTo>
                  <a:cubicBezTo>
                    <a:pt x="484024" y="677878"/>
                    <a:pt x="484729" y="738436"/>
                    <a:pt x="485435" y="798993"/>
                  </a:cubicBezTo>
                  <a:lnTo>
                    <a:pt x="0" y="798993"/>
                  </a:lnTo>
                  <a:lnTo>
                    <a:pt x="0" y="0"/>
                  </a:lnTo>
                  <a:lnTo>
                    <a:pt x="485435" y="0"/>
                  </a:lnTo>
                  <a:lnTo>
                    <a:pt x="485699" y="214890"/>
                  </a:lnTo>
                </a:path>
              </a:pathLst>
            </a:custGeom>
            <a:noFill/>
            <a:ln w="412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914400">
                <a:lnSpc>
                  <a:spcPct val="130000"/>
                </a:lnSpc>
              </a:pPr>
              <a:endParaRPr lang="zh-CN" altLang="en-US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29021" y="872054"/>
              <a:ext cx="18473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endParaRPr lang="en-GB" altLang="zh-CN" sz="1400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32345" y="508074"/>
              <a:ext cx="5711825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Key Findings 02: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端到端分歧之辨</a:t>
              </a:r>
              <a:r>
                <a:rPr lang="en-US" altLang="zh-CN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 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行业未形成统一</a:t>
              </a:r>
              <a:r>
                <a:rPr lang="zh-CN" altLang="en-US" b="1" dirty="0">
                  <a:solidFill>
                    <a:schemeClr val="bg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sym typeface="+mn-ea"/>
                </a:rPr>
                <a:t>共识</a:t>
              </a:r>
              <a:endParaRPr lang="zh-CN" altLang="en-US" b="1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967105" y="4819650"/>
            <a:ext cx="8274685" cy="1123315"/>
            <a:chOff x="1159" y="6968"/>
            <a:chExt cx="13031" cy="1769"/>
          </a:xfrm>
        </p:grpSpPr>
        <p:grpSp>
          <p:nvGrpSpPr>
            <p:cNvPr id="62" name="组合 61"/>
            <p:cNvGrpSpPr/>
            <p:nvPr/>
          </p:nvGrpSpPr>
          <p:grpSpPr>
            <a:xfrm>
              <a:off x="1159" y="6968"/>
              <a:ext cx="13031" cy="1769"/>
              <a:chOff x="1159" y="6968"/>
              <a:chExt cx="13031" cy="1769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159" y="6968"/>
                <a:ext cx="13031" cy="1769"/>
              </a:xfrm>
              <a:prstGeom prst="rect">
                <a:avLst/>
              </a:prstGeom>
              <a:solidFill>
                <a:schemeClr val="bg1">
                  <a:alpha val="15000"/>
                </a:schemeClr>
              </a:solidFill>
              <a:ln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341" y="7215"/>
                <a:ext cx="2928" cy="1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4400" b="1">
                    <a:solidFill>
                      <a:srgbClr val="E54C5E"/>
                    </a:solidFill>
                    <a:latin typeface="Whiff Bold" panose="02000800000000000000" charset="0"/>
                    <a:cs typeface="Whiff Bold" panose="02000800000000000000" charset="0"/>
                  </a:rPr>
                  <a:t>17.49%</a:t>
                </a:r>
                <a:endParaRPr lang="en-US" altLang="zh-CN" sz="4400" b="1">
                  <a:solidFill>
                    <a:srgbClr val="E54C5E"/>
                  </a:solidFill>
                  <a:latin typeface="Whiff Bold" panose="02000800000000000000" charset="0"/>
                  <a:cs typeface="Whiff Bold" panose="02000800000000000000" charset="0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4150" y="7534"/>
                <a:ext cx="3054" cy="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0" indent="0" algn="l"/>
                <a:r>
                  <a:rPr lang="zh-CN" altLang="en-US" sz="1000" b="0" i="0">
                    <a:solidFill>
                      <a:schemeClr val="bg1"/>
                    </a:solidFill>
                    <a:latin typeface="PingFang SC Regular" panose="020B0400000000000000" charset="-122"/>
                    <a:ea typeface="PingFang SC Regular" panose="020B0400000000000000" charset="-122"/>
                  </a:rPr>
                  <a:t>否定端到端</a:t>
                </a:r>
                <a:endParaRPr lang="zh-CN" altLang="en-US" sz="1000" b="0" i="0">
                  <a:solidFill>
                    <a:schemeClr val="bg1"/>
                  </a:solidFill>
                  <a:latin typeface="PingFang SC Regular" panose="020B0400000000000000" charset="-122"/>
                  <a:ea typeface="PingFang SC Regular" panose="020B0400000000000000" charset="-122"/>
                </a:endParaRPr>
              </a:p>
              <a:p>
                <a:pPr marL="0" indent="0" algn="l"/>
                <a:r>
                  <a:rPr lang="zh-CN" altLang="en-US" sz="1000" b="0" i="0">
                    <a:solidFill>
                      <a:schemeClr val="bg1"/>
                    </a:solidFill>
                    <a:latin typeface="PingFang SC Regular" panose="020B0400000000000000" charset="-122"/>
                    <a:ea typeface="PingFang SC Regular" panose="020B0400000000000000" charset="-122"/>
                  </a:rPr>
                  <a:t>实盘效果，多因子强于端到端</a:t>
                </a:r>
                <a:endParaRPr lang="zh-CN" altLang="en-US" sz="1000" b="0" i="0">
                  <a:solidFill>
                    <a:schemeClr val="bg1"/>
                  </a:solidFill>
                  <a:latin typeface="PingFang SC Regular" panose="020B0400000000000000" charset="-122"/>
                  <a:ea typeface="PingFang SC Regular" panose="020B0400000000000000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7205" y="7209"/>
                <a:ext cx="3306" cy="1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4400" b="1">
                    <a:solidFill>
                      <a:srgbClr val="E54C5E"/>
                    </a:solidFill>
                    <a:latin typeface="Whiff Bold" panose="02000800000000000000" charset="0"/>
                    <a:cs typeface="Whiff Bold" panose="02000800000000000000" charset="0"/>
                  </a:rPr>
                  <a:t>21.97%</a:t>
                </a:r>
                <a:endParaRPr lang="en-US" altLang="zh-CN" sz="4400" b="1">
                  <a:solidFill>
                    <a:srgbClr val="E54C5E"/>
                  </a:solidFill>
                  <a:latin typeface="Whiff Bold" panose="02000800000000000000" charset="0"/>
                  <a:cs typeface="Whiff Bold" panose="02000800000000000000" charset="0"/>
                </a:endParaRPr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10145" y="7534"/>
              <a:ext cx="3683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zh-CN" altLang="en-US" sz="1000" b="0" i="0">
                  <a:solidFill>
                    <a:schemeClr val="bg1"/>
                  </a:solidFill>
                  <a:latin typeface="PingFang SC Regular" panose="020B0400000000000000" charset="-122"/>
                  <a:ea typeface="PingFang SC Regular" panose="020B0400000000000000" charset="-122"/>
                </a:rPr>
                <a:t>否定端到端</a:t>
              </a:r>
              <a:endParaRPr lang="zh-CN" altLang="en-US" sz="1000" b="0" i="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</a:endParaRPr>
            </a:p>
            <a:p>
              <a:pPr marL="0" indent="0" algn="l"/>
              <a:r>
                <a:rPr lang="zh-CN" altLang="en-US" sz="1000" b="0" i="0">
                  <a:solidFill>
                    <a:schemeClr val="bg1"/>
                  </a:solidFill>
                  <a:latin typeface="PingFang SC Regular" panose="020B0400000000000000" charset="-122"/>
                  <a:ea typeface="PingFang SC Regular" panose="020B0400000000000000" charset="-122"/>
                </a:rPr>
                <a:t>认为逻辑驱动的因子降低过拟合风险</a:t>
              </a:r>
              <a:endParaRPr lang="zh-CN" altLang="en-US" sz="1000" b="0" i="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>
            <a:grpSpLocks noChangeAspect="1"/>
          </p:cNvGrpSpPr>
          <p:nvPr/>
        </p:nvGrpSpPr>
        <p:grpSpPr>
          <a:xfrm>
            <a:off x="5295900" y="2125980"/>
            <a:ext cx="4644023" cy="2880000"/>
            <a:chOff x="6729" y="2685"/>
            <a:chExt cx="9875" cy="612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38" y="2685"/>
              <a:ext cx="4966" cy="6124"/>
            </a:xfrm>
            <a:prstGeom prst="rect">
              <a:avLst/>
            </a:prstGeom>
          </p:spPr>
        </p:pic>
        <p:pic>
          <p:nvPicPr>
            <p:cNvPr id="4" name="图片 3" descr="ebecfa3d6091838df22a667ddc67adb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9" y="2685"/>
              <a:ext cx="4529" cy="6124"/>
            </a:xfrm>
            <a:prstGeom prst="rect">
              <a:avLst/>
            </a:prstGeom>
          </p:spPr>
        </p:pic>
      </p:grpSp>
      <p:pic>
        <p:nvPicPr>
          <p:cNvPr id="2" name="图片 1" descr="毛笔字 (5)"/>
          <p:cNvPicPr>
            <a:picLocks noChangeAspect="1"/>
          </p:cNvPicPr>
          <p:nvPr/>
        </p:nvPicPr>
        <p:blipFill>
          <a:blip r:embed="rId3">
            <a:lum bright="100000"/>
          </a:blip>
          <a:srcRect b="4954"/>
          <a:stretch>
            <a:fillRect/>
          </a:stretch>
        </p:blipFill>
        <p:spPr>
          <a:xfrm>
            <a:off x="1528445" y="1032510"/>
            <a:ext cx="3552825" cy="50666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1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2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3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4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2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4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1"/>
  <p:tag name="KSO_WM_UNIT_LINE_FORE_SCHEMECOLOR_INDEX" val="1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3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3"/>
  <p:tag name="KSO_WM_UNIT_LINE_FORE_SCHEMECOLOR_INDEX" val="1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3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5395_3*m_h_f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5395_3*m_h_a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5395_3*m_h_f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3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x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94*94"/>
  <p:tag name="KSO_WM_UNIT_TYPE" val="m_h_x"/>
  <p:tag name="KSO_WM_UNIT_INDEX" val="1_5_1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h_i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5_1"/>
  <p:tag name="KSO_WM_DIAGRAM_VERSION" val="3"/>
  <p:tag name="KSO_WM_DIAGRAM_COLOR_TRICK" val="2"/>
  <p:tag name="KSO_WM_DIAGRAM_COLOR_TEXT_CAN_REMOVE" val="n"/>
  <p:tag name="KSO_WM_DIAGRAM_GROUP_CODE" val="m1-1"/>
  <p:tag name="KSO_WM_UNIT_FILL_TYPE" val="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4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4"/>
  <p:tag name="KSO_WM_UNIT_LINE_FORE_SCHEMECOLOR_INDEX" val="1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5395_3*m_h_f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5395_3*m_h_a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5395_3*m_h_a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3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5395_3*m_h_a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1"/>
  <p:tag name="KSO_WM_UNIT_LINE_FORE_SCHEMECOLOR_INDEX" val="1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3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UNIT_TYPE" val="m_i"/>
  <p:tag name="KSO_WM_UNIT_INDEX" val="1_1"/>
  <p:tag name="KSO_WM_UNIT_LINE_FORE_SCHEMECOLOR_INDEX" val="13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10,10,10,10,10,10]}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5395_3*m_h_f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3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5395_3*m_h_f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3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5395_3*m_h_f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5395_3*m_h_a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TYPE" val="1"/>
  <p:tag name="KSO_WM_DIAGRAM_VERSION" val="3"/>
  <p:tag name="KSO_WM_DIAGRAM_COLOR_TRICK" val="2"/>
  <p:tag name="KSO_WM_DIAGRAM_COLOR_TEXT_CAN_REMOVE" val="n"/>
  <p:tag name="KSO_WM_DIAGRAM_GROUP_CODE" val="m1-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375.5,&quot;left&quot;:66.90000610351562,&quot;top&quot;:105.05,&quot;width&quot;:826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191160"/>
</p:tagLst>
</file>

<file path=ppt/tags/tag36.xml><?xml version="1.0" encoding="utf-8"?>
<p:tagLst xmlns:p="http://schemas.openxmlformats.org/presentationml/2006/main">
  <p:tag name="commondata" val="eyJoZGlkIjoiYzNhOGRlOGQ1OTI0MTNhZDA5NDIzMTBhZWM3MzFlY2YifQ=="/>
  <p:tag name="resource_record_key" val="{&quot;65&quot;:[20205081],&quot;70&quot;:[3403268,3426838,3323369,332188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PingFang SC"/>
        <a:ea typeface="PingFang SC"/>
        <a:cs typeface=""/>
      </a:majorFont>
      <a:minorFont>
        <a:latin typeface="PingFang SC"/>
        <a:ea typeface="PingFang SC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PingFang SC"/>
        <a:ea typeface="PingFang SC"/>
        <a:cs typeface=""/>
      </a:majorFont>
      <a:minorFont>
        <a:latin typeface="PingFang SC"/>
        <a:ea typeface="PingFang SC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PingFang SC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PingFang SC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PingFang SC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ＭＳ Ｐゴシック"/>
        <a:font script="Hang" typeface="맑은 고딕"/>
        <a:font script="Hans" typeface="PingFang SC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WPS 演示</Application>
  <PresentationFormat>宽屏</PresentationFormat>
  <Paragraphs>80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36" baseType="lpstr">
      <vt:lpstr>Arial</vt:lpstr>
      <vt:lpstr>宋体</vt:lpstr>
      <vt:lpstr>Wingdings</vt:lpstr>
      <vt:lpstr>PingFang SC</vt:lpstr>
      <vt:lpstr>PingFang SC Semibold</vt:lpstr>
      <vt:lpstr>PingFang SC Regular</vt:lpstr>
      <vt:lpstr>微软雅黑</vt:lpstr>
      <vt:lpstr>汉仪旗黑</vt:lpstr>
      <vt:lpstr>Whiff Bold</vt:lpstr>
      <vt:lpstr>PingFang TC</vt:lpstr>
      <vt:lpstr>PingFangTC-Light</vt:lpstr>
      <vt:lpstr>PingFang TC Semibold</vt:lpstr>
      <vt:lpstr>宋体</vt:lpstr>
      <vt:lpstr>Arial Unicode MS</vt:lpstr>
      <vt:lpstr>quote-cjk-patch</vt:lpstr>
      <vt:lpstr>Thonburi</vt:lpstr>
      <vt:lpstr>Arial</vt:lpstr>
      <vt:lpstr>ch</vt:lpstr>
      <vt:lpstr>Wingdings</vt:lpstr>
      <vt:lpstr>PingFang TC</vt:lpstr>
      <vt:lpstr>微软雅黑</vt:lpstr>
      <vt:lpstr>Century Gothic</vt:lpstr>
      <vt:lpstr>苹方-简</vt:lpstr>
      <vt:lpstr>微软雅黑 Light</vt:lpstr>
      <vt:lpstr>汉仪中黑KW</vt:lpstr>
      <vt:lpstr>ch</vt:lpstr>
      <vt:lpstr>quote-cjk-patch</vt:lpstr>
      <vt:lpstr>汉仪书宋二KW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WPS_1766540440</cp:lastModifiedBy>
  <cp:revision>24</cp:revision>
  <dcterms:created xsi:type="dcterms:W3CDTF">2026-06-24T08:18:49Z</dcterms:created>
  <dcterms:modified xsi:type="dcterms:W3CDTF">2026-06-24T08:18:49Z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73A1B4DD8FE5A5F4CD54E069051FA92D_43</vt:lpwstr>
  </property>
</Properties>
</file>
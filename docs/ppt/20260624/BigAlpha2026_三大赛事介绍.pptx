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943600" cy="4572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DCE4F5"/>
                </a:solidFill>
                <a:latin typeface="PingFang SC"/>
              </a:rPr>
              <a:t>BigQuant（宽邦科技）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PingFang SC"/>
              </a:rPr>
              <a:t>BigAlpha 2026 全球高校联赛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F2BA02"/>
                </a:solidFill>
                <a:latin typeface="PingFang SC"/>
              </a:rPr>
              <a:t>三大赛事赛题整合介绍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PingFang SC"/>
              </a:rPr>
              <a:t>AI 因子挖掘  ·  端到端大模型  ·  AI 开放创新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CE4F5"/>
                </a:solidFill>
                <a:latin typeface="PingFang SC"/>
              </a:rPr>
              <a:t>依托 BigQuant AI 投研平台 · 真实数据 · 开放赛题 · 专业评审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CE4F5"/>
                </a:solidFill>
                <a:latin typeface="PingFang SC"/>
              </a:rPr>
              <a:t>2026.05 报名启动  |  2026.09 线下总决赛（UC Berkeley · 北京大学）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目录  | 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669280" cy="822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2BA02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733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大赛总览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BigAlpha 与三大赛事框架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669280" cy="822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822960" cy="8229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544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2BA02"/>
                </a:solidFill>
                <a:latin typeface="PingFang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733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共同信息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赛程 · 决赛 · 奖项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5669280" cy="822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822960" cy="8229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2BA02"/>
                </a:solidFill>
                <a:latin typeface="PingFang S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7706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AI 因子挖掘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传统 + AI 双赛道，挖掘 Alpha 因子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651760"/>
            <a:ext cx="5669280" cy="822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51760"/>
            <a:ext cx="822960" cy="8229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6517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2BA02"/>
                </a:solidFill>
                <a:latin typeface="PingFang SC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7706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端到端大模型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1089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原始量价数据直出预测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49040"/>
            <a:ext cx="5669280" cy="822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49040"/>
            <a:ext cx="822960" cy="8229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490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2BA02"/>
                </a:solidFill>
                <a:latin typeface="PingFang S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8679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AI 开放创新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围绕 AI × 量化自由立项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749040"/>
            <a:ext cx="5669280" cy="822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3749040"/>
            <a:ext cx="822960" cy="8229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7490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2BA02"/>
                </a:solidFill>
                <a:latin typeface="PingFang SC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38679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三赛事对比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横向差异 + 选题建议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01  大赛总览  |  BigAlpha 全球联赛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面向全球高校青年人才的年度 AI 量化投研赛事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PingFang SC"/>
              </a:rPr>
              <a:t>连接高校 · 学生 · 量化机构 · AI 金融实践场景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PingFang SC"/>
              </a:rPr>
              <a:t>通过真实数据、开放赛题与专业评审，发现具备 AI 投研能力、量化建模能力与策略创新能力的新一代金融科技人才。BigAlpha 2026 全球同步开放三大赛事，参赛者可根据自身背景与兴趣自由选择。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287" y="3200400"/>
            <a:ext cx="3657600" cy="3108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287" y="3200400"/>
            <a:ext cx="3657600" cy="64008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287" y="3200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AI 因子挖掘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适合人群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87" y="4389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金融工程 / 量化 / 数学 / 统计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87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赛题概览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5349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在中证 1000 分钟级行情上挖掘日频因子，传统赛道与 AI 赛道并行评分。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047" y="3200400"/>
            <a:ext cx="3657600" cy="3108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7047" y="3200400"/>
            <a:ext cx="3657600" cy="640080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7047" y="3200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端到端大模型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5647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822F"/>
                </a:solidFill>
                <a:latin typeface="PingFang SC"/>
              </a:rPr>
              <a:t>适合人群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647" y="4389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AI / CS / 数据科学 / 金融科技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647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E822F"/>
                </a:solidFill>
                <a:latin typeface="PingFang SC"/>
              </a:rPr>
              <a:t>赛题概览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647" y="5349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无特征工程，用深度网络直接从原始量价序列学习残差收益预测。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1807" y="3200400"/>
            <a:ext cx="3657600" cy="31089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1807" y="3200400"/>
            <a:ext cx="3657600" cy="640080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807" y="3200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AI 开放创新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0407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0C0B4"/>
                </a:solidFill>
                <a:latin typeface="PingFang SC"/>
              </a:rPr>
              <a:t>适合人群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0407" y="43891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跨学科 / 创新创业团队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0407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0C0B4"/>
                </a:solidFill>
                <a:latin typeface="PingFang SC"/>
              </a:rPr>
              <a:t>赛题概览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407" y="53492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围绕 AI × 量化自由立项：因子、事件驱动、多模态、Agent 工具链。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01  关于 BigQuant  |  AI 量化投研平台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Democratize AI to empower investors —— 让 AI 普惠每一位投资者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国内领先的 AI 量化投资平台，行业内首个将 AI 系统性应用于投资领域的平台级产品，已被多家头部金融机构采用；本届赛事直接复用与机构客户一致的工具链。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19202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109728" cy="192024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数据底座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PB 级标准金融数据 + 另类数据，覆盖行情、财务、舆情、产业链；提供 PIT 处理、跨频率对齐等基础设施。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920240"/>
            <a:ext cx="5486400" cy="19202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109728" cy="192024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103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因子与算法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0604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2000+ 基础因子库；表达式引擎 / UDF / AI 自动化挖掘；AutoML、超参寻优、滚动训练、组合优化、归因分析等组件。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486400" cy="19202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09728" cy="192024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研发环境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DAI 数据引擎提供高性能因子计算（速度更快 / 内存更低）；模块化可视化开发与 Python / Notebook 无缝集成。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023360"/>
            <a:ext cx="5486400" cy="19202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109728" cy="192024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生态与落地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09160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策略源码库、券商研报、量化学院培训、模拟与实盘对接，构建从学习到落地的完整闭环。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02  共同信息  |  赛程时间轴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三大赛事统一节奏：报名 → 初赛 → 决赛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46120"/>
            <a:ext cx="10698480" cy="54864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0107" y="914400"/>
            <a:ext cx="3474720" cy="21031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0107" y="914400"/>
            <a:ext cx="3474720" cy="50292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107" y="9144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阶段一 · 宣传报名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107" y="14630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E822F"/>
                </a:solidFill>
                <a:latin typeface="PingFang SC"/>
              </a:rPr>
              <a:t>2026-05-15 ~ 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987" y="1874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报名截止 7/25 · 单队最多 5 人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6/24 赛前培训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6/22 ~ 6/28 系统内测，结束后清榜</a:t>
            </a:r>
          </a:p>
        </p:txBody>
      </p:sp>
      <p:sp>
        <p:nvSpPr>
          <p:cNvPr id="14" name="Oval 13"/>
          <p:cNvSpPr/>
          <p:nvPr/>
        </p:nvSpPr>
        <p:spPr>
          <a:xfrm>
            <a:off x="2397739" y="3163824"/>
            <a:ext cx="219456" cy="219456"/>
          </a:xfrm>
          <a:prstGeom prst="ellipse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2701" y="3794760"/>
            <a:ext cx="3474720" cy="21031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2701" y="3794760"/>
            <a:ext cx="3474720" cy="50292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2701" y="37947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阶段二 · 初赛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2701" y="43434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E822F"/>
                </a:solidFill>
                <a:latin typeface="PingFang SC"/>
              </a:rPr>
              <a:t>2026-07-01 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5581" y="475488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因子 / 端到端：公榜 7/1–8/5，私榜 8/5–8/12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开放创新：方案 7/25 截止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公榜实时打分，私榜决定排名</a:t>
            </a:r>
          </a:p>
        </p:txBody>
      </p:sp>
      <p:sp>
        <p:nvSpPr>
          <p:cNvPr id="20" name="Oval 19"/>
          <p:cNvSpPr/>
          <p:nvPr/>
        </p:nvSpPr>
        <p:spPr>
          <a:xfrm>
            <a:off x="5960333" y="3163824"/>
            <a:ext cx="219456" cy="219456"/>
          </a:xfrm>
          <a:prstGeom prst="ellipse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95295" y="914400"/>
            <a:ext cx="3474720" cy="21031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95295" y="914400"/>
            <a:ext cx="3474720" cy="50292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5295" y="9144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阶段三 · 决赛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5295" y="14630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EE822F"/>
                </a:solidFill>
                <a:latin typeface="PingFang SC"/>
              </a:rPr>
              <a:t>2026-09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8175" y="1874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晋级榜单 8/16 公布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美国场 09-01 @ UC Berkeley</a:t>
            </a:r>
          </a:p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亚洲场 9 月中旬 @ 北京大学</a:t>
            </a:r>
          </a:p>
        </p:txBody>
      </p:sp>
      <p:sp>
        <p:nvSpPr>
          <p:cNvPr id="26" name="Oval 25"/>
          <p:cNvSpPr/>
          <p:nvPr/>
        </p:nvSpPr>
        <p:spPr>
          <a:xfrm>
            <a:off x="9522927" y="3163824"/>
            <a:ext cx="219456" cy="219456"/>
          </a:xfrm>
          <a:prstGeom prst="ellipse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02  共同信息  |  决赛与晋级规则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两地双场 · 每场 12 个晋级名额 · 现场答辩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486400" cy="2468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决赛场次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74CB"/>
                </a:solidFill>
                <a:latin typeface="PingFang SC"/>
              </a:rPr>
              <a:t>美国场 · 2026-09-01 · UC Berkeley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74CB"/>
                </a:solidFill>
                <a:latin typeface="PingFang SC"/>
              </a:rPr>
              <a:t>亚洲场 · 2026 年 9 月中旬 · 北京大学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答辩形式：25 分钟展示 + 5 分钟评委问答；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线下举行，同步线上直播，答辩后公布名次并颁奖。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486400" cy="2468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晋级名额（每场 12 个）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423"/>
                </a:solidFill>
                <a:latin typeface="PingFang SC"/>
              </a:rPr>
              <a:t>• 直通晋级 · 6 席</a:t>
            </a:r>
            <a:r>
              <a:rPr sz="1200">
                <a:solidFill>
                  <a:srgbClr val="4A5568"/>
                </a:solidFill>
                <a:latin typeface="PingFang SC"/>
              </a:rPr>
              <a:t>  各赛事初赛前 2 名（3 赛事 × 2）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423"/>
                </a:solidFill>
                <a:latin typeface="PingFang SC"/>
              </a:rPr>
              <a:t>• 综合评定 · 6 席</a:t>
            </a:r>
            <a:r>
              <a:rPr sz="1200">
                <a:solidFill>
                  <a:srgbClr val="4A5568"/>
                </a:solidFill>
                <a:latin typeface="PingFang SC"/>
              </a:rPr>
              <a:t>  组委会跨赛事综合判定选出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423"/>
                </a:solidFill>
                <a:latin typeface="PingFang SC"/>
              </a:rPr>
              <a:t>• 评定来源</a:t>
            </a:r>
            <a:r>
              <a:rPr sz="1200">
                <a:solidFill>
                  <a:srgbClr val="4A5568"/>
                </a:solidFill>
                <a:latin typeface="PingFang SC"/>
              </a:rPr>
              <a:t>  三大赛事初赛表现整体评估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94760"/>
            <a:ext cx="11247120" cy="26060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决赛参赛材料：研究报告（PDF · 10–15 页）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3520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902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74CB"/>
                </a:solidFill>
                <a:latin typeface="PingFang SC"/>
              </a:rPr>
              <a:t>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19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研究目标 · 方法 · 结论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4480560"/>
            <a:ext cx="3520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5902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74CB"/>
                </a:solidFill>
                <a:latin typeface="PingFang SC"/>
              </a:rPr>
              <a:t>引言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919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研究背景与文献综述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480560"/>
            <a:ext cx="3520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45902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74CB"/>
                </a:solidFill>
                <a:latin typeface="PingFang SC"/>
              </a:rPr>
              <a:t>因子 / 模型构建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9194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数据预处理与方法细节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94960"/>
            <a:ext cx="3520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046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74CB"/>
                </a:solidFill>
                <a:latin typeface="PingFang SC"/>
              </a:rPr>
              <a:t>实证分析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338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回测、归因、稳健性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5394960"/>
            <a:ext cx="3520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55046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74CB"/>
                </a:solidFill>
                <a:latin typeface="PingFang SC"/>
              </a:rPr>
              <a:t>创新与局限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8338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方法创新点与边界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5394960"/>
            <a:ext cx="352044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550468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874CB"/>
                </a:solidFill>
                <a:latin typeface="PingFang SC"/>
              </a:rPr>
              <a:t>结论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58338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总结与未来方向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02  共同信息  |  奖项体系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三大赛事共享奖项；覆盖比赛全周期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洲际奖项（亚洲场 / 美国场分别设置）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72287" y="1737360"/>
            <a:ext cx="3657600" cy="1828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2287" y="1737360"/>
            <a:ext cx="3657600" cy="50292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287" y="17373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金奖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87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PingFang SC"/>
              </a:rPr>
              <a:t>1 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87" y="2651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423"/>
                </a:solidFill>
                <a:latin typeface="PingFang SC"/>
              </a:rPr>
              <a:t>￥20,000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" y="3154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奖杯 + 电子证书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047" y="1737360"/>
            <a:ext cx="3657600" cy="1828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67047" y="1737360"/>
            <a:ext cx="3657600" cy="50292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7047" y="17373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银奖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7047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PingFang SC"/>
              </a:rPr>
              <a:t>2 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047" y="2651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423"/>
                </a:solidFill>
                <a:latin typeface="PingFang SC"/>
              </a:rPr>
              <a:t>￥15,000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047" y="3154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奖杯 + 电子证书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1807" y="1737360"/>
            <a:ext cx="3657600" cy="1828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1807" y="1737360"/>
            <a:ext cx="3657600" cy="502920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1807" y="173736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铜奖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1807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PingFang SC"/>
              </a:rPr>
              <a:t>3 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1807" y="26517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0F1423"/>
                </a:solidFill>
                <a:latin typeface="PingFang SC"/>
              </a:rPr>
              <a:t>￥10,000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1807" y="3154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4A5568"/>
                </a:solidFill>
                <a:latin typeface="PingFang SC"/>
              </a:rPr>
              <a:t>奖杯 + 电子证书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5486400" cy="2468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初赛奖项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48056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423"/>
                </a:solidFill>
                <a:latin typeface="PingFang SC"/>
              </a:rPr>
              <a:t>• 赛道周冠军</a:t>
            </a:r>
            <a:r>
              <a:rPr sz="1200">
                <a:solidFill>
                  <a:srgbClr val="4A5568"/>
                </a:solidFill>
                <a:latin typeface="PingFang SC"/>
              </a:rPr>
              <a:t>  每场每周按排名评选 · ￥1,500 / 周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F1423"/>
                </a:solidFill>
                <a:latin typeface="PingFang SC"/>
              </a:rPr>
              <a:t>• BigAlpha 量化新星</a:t>
            </a:r>
            <a:r>
              <a:rPr sz="1200">
                <a:solidFill>
                  <a:srgbClr val="4A5568"/>
                </a:solidFill>
                <a:latin typeface="PingFang SC"/>
              </a:rPr>
              <a:t>  至少提交一次有效合规作品即颁发电子证书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86200"/>
            <a:ext cx="5486400" cy="2468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特色奖项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8056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随赛事推进，组委会评选具有特色的作品与团队进行专项颁奖；奖项内容届时公布，奖金合计 ￥12,500。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943600" cy="4572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BA02"/>
                </a:solidFill>
                <a:latin typeface="PingFang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SC"/>
              </a:rPr>
              <a:t>AI 因子挖掘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CE4F5"/>
                </a:solidFill>
                <a:latin typeface="PingFang SC"/>
              </a:rPr>
              <a:t>Alpha Factor Mining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2BA02"/>
                </a:solidFill>
                <a:latin typeface="PingFang SC"/>
              </a:rPr>
              <a:t>传统赛道 + AI 智能赛道并行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4F5"/>
                </a:solidFill>
                <a:latin typeface="PingFang SC"/>
              </a:rPr>
              <a:t>在中证 1000 成分股的分钟级行情上构建日频因子；公榜实时迭代、私榜样本外评分。</a:t>
            </a:r>
          </a:p>
          <a:p>
            <a:pPr algn="l"/>
            <a:r>
              <a:rPr sz="1400" b="0">
                <a:solidFill>
                  <a:srgbClr val="DCE4F5"/>
                </a:solidFill>
                <a:latin typeface="PingFang SC"/>
              </a:rPr>
              <a:t>适合：金融工程、量化、数学、统计方向学生。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03  AI 因子挖掘  |  双赛道与数据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投资逻辑 vs AI 创新；同一数据集，不同评审导向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F1423"/>
                </a:solidFill>
                <a:latin typeface="PingFang SC"/>
              </a:rPr>
              <a:t>双赛道并行模式（两赛道独立排名）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577840" cy="2468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577840" cy="45720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传统量化赛道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74CB"/>
                </a:solidFill>
                <a:latin typeface="PingFang SC"/>
              </a:rPr>
              <a:t>强调投资逻辑、统计显著性与经济解释性。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PingFang SC"/>
              </a:rPr>
              <a:t>• 多因子模型 · 基本面 · 经典技术指标 · 物理模型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PingFang SC"/>
              </a:rPr>
              <a:t>• 重点评估：经济逻辑合理性、统计显著性、跨市场稳健性、可解释性。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577840" cy="24688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5577840" cy="457200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50876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/>
              </a:rPr>
              <a:t>AI 智能赛道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E822F"/>
                </a:solidFill>
                <a:latin typeface="PingFang SC"/>
              </a:rPr>
              <a:t>利用 LLM、强化学习、遗传算法做因子自动生成或优化。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51206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PingFang SC"/>
              </a:rPr>
              <a:t>• 自动化特征工程 · Prompt 生成因子公式 · 神经网络挖掘非线性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PingFang SC"/>
              </a:rPr>
              <a:t>• 重点评估：因子有效性 + AI 应用深度 / 创新性 / 参与度。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数据  |  高质量 A 股市场数据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00600"/>
            <a:ext cx="137160" cy="64008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00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423"/>
                </a:solidFill>
                <a:latin typeface="PingFang SC"/>
              </a:rPr>
              <a:t>股票池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20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中证 1000 指数历史相应时点成分股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800600"/>
            <a:ext cx="137160" cy="64008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80060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423"/>
                </a:solidFill>
                <a:latin typeface="PingFang SC"/>
              </a:rPr>
              <a:t>时间范围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1206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2019-01-01 ~ 2024-12-31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77840"/>
            <a:ext cx="137160" cy="64008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423"/>
                </a:solidFill>
                <a:latin typeface="PingFang SC"/>
              </a:rPr>
              <a:t>行情数据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97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1 分钟 K 线 + 盘口快照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577840"/>
            <a:ext cx="137160" cy="64008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55778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423"/>
                </a:solidFill>
                <a:latin typeface="PingFang SC"/>
              </a:rPr>
              <a:t>财务数据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897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已做 PIT（Point-in-Time）处理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03  AI 因子挖掘  |  评估体系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团队得分 = max_i ( 0.3 × A_i + 0.7 × B_i )，以单个因子为最小评分单元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486400" cy="3200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A 项 · 单因子得分（30%）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423"/>
                </a:solidFill>
                <a:latin typeface="PingFang SC"/>
              </a:rPr>
              <a:t>A = 0.25·Rank(IC_mean) + 0.25·Rank(IC_IR)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423"/>
                </a:solidFill>
                <a:latin typeface="PingFang SC"/>
              </a:rPr>
              <a:t>      + 0.25·Rank(SR) + 0.25·Rank(Stress)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IC 均值</a:t>
            </a:r>
            <a:r>
              <a:rPr sz="1100">
                <a:solidFill>
                  <a:srgbClr val="4A5568"/>
                </a:solidFill>
                <a:latin typeface="PingFang SC"/>
              </a:rPr>
              <a:t>  截面相关性的强度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IC_IR</a:t>
            </a:r>
            <a:r>
              <a:rPr sz="1100">
                <a:solidFill>
                  <a:srgbClr val="4A5568"/>
                </a:solidFill>
                <a:latin typeface="PingFang SC"/>
              </a:rPr>
              <a:t>  IC 序列稳定性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SR</a:t>
            </a:r>
            <a:r>
              <a:rPr sz="1100">
                <a:solidFill>
                  <a:srgbClr val="4A5568"/>
                </a:solidFill>
                <a:latin typeface="PingFang SC"/>
              </a:rPr>
              <a:t>  多空组合年化夏普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Stress</a:t>
            </a:r>
            <a:r>
              <a:rPr sz="1100">
                <a:solidFill>
                  <a:srgbClr val="4A5568"/>
                </a:solidFill>
                <a:latin typeface="PingFang SC"/>
              </a:rPr>
              <a:t>  特殊行情下的稳健性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5486400" cy="3200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5486400" cy="457200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143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B 项 · Elastic Net 组合贡献（70%）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37360"/>
            <a:ext cx="512064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汇总全场</a:t>
            </a:r>
            <a:r>
              <a:rPr sz="1100">
                <a:solidFill>
                  <a:srgbClr val="4A5568"/>
                </a:solidFill>
                <a:latin typeface="PingFang SC"/>
              </a:rPr>
              <a:t>  所有团队提交因子构成全局候选集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滚动回归</a:t>
            </a:r>
            <a:r>
              <a:rPr sz="1100">
                <a:solidFill>
                  <a:srgbClr val="4A5568"/>
                </a:solidFill>
                <a:latin typeface="PingFang SC"/>
              </a:rPr>
              <a:t>  窗口 60 个交易日、步长 20 日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ModelScore</a:t>
            </a:r>
            <a:r>
              <a:rPr sz="1100">
                <a:solidFill>
                  <a:srgbClr val="4A5568"/>
                </a:solidFill>
                <a:latin typeface="PingFang SC"/>
              </a:rPr>
              <a:t>  mean(|w|) / (std(|w|) + ε)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L1 选因子</a:t>
            </a:r>
            <a:r>
              <a:rPr sz="1100">
                <a:solidFill>
                  <a:srgbClr val="4A5568"/>
                </a:solidFill>
                <a:latin typeface="PingFang SC"/>
              </a:rPr>
              <a:t>  无增量贡献者权重压至 0，B=0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团队得分</a:t>
            </a:r>
            <a:r>
              <a:rPr sz="1100">
                <a:solidFill>
                  <a:srgbClr val="4A5568"/>
                </a:solidFill>
                <a:latin typeface="PingFang SC"/>
              </a:rPr>
              <a:t>  ModelScore 在全场的百分位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5486400" cy="1874519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提交规则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PingFang SC"/>
              </a:rPr>
              <a:t>• 每队最多提交 50 个因子，全部有效提交构成因子池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PingFang SC"/>
              </a:rPr>
              <a:t>• 每个提交独立评分，团队分取所有提交的最大值</a:t>
            </a:r>
          </a:p>
          <a:p>
            <a:pPr algn="l">
              <a:spcAft>
                <a:spcPts val="600"/>
              </a:spcAft>
            </a:pPr>
            <a:r>
              <a:rPr sz="1100">
                <a:solidFill>
                  <a:srgbClr val="4A5568"/>
                </a:solidFill>
                <a:latin typeface="PingFang SC"/>
              </a:rPr>
              <a:t>• 鼓励精选，堆砌低质因子无收益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26280"/>
            <a:ext cx="5486400" cy="1874519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17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数据划分（公榜 / 私榜）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83480"/>
            <a:ext cx="51206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公榜</a:t>
            </a:r>
            <a:r>
              <a:rPr sz="1100">
                <a:solidFill>
                  <a:srgbClr val="4A5568"/>
                </a:solidFill>
                <a:latin typeface="PingFang SC"/>
              </a:rPr>
              <a:t>  训练 2019–2024 / 验证 2025 全年，得分可见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私榜</a:t>
            </a:r>
            <a:r>
              <a:rPr sz="1100">
                <a:solidFill>
                  <a:srgbClr val="4A5568"/>
                </a:solidFill>
                <a:latin typeface="PingFang SC"/>
              </a:rPr>
              <a:t>  区间不公开，含 2026 样本外，最终排名以此为准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03  AI 因子挖掘  |  提交规范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提交因子构建代码（非数据），平台自动运行评分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486400" cy="2743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返回数据格式（main 函数输出 · 仅三列）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691640" cy="4114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1783080"/>
            <a:ext cx="1691640" cy="4114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instrument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783080"/>
            <a:ext cx="1691640" cy="4114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178308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9456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9456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2023-01-03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219456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219456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000001.SZ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219456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219456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0.05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60604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6060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2023-01-03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60604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26060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000002.SZ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60604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26060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-0.12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01752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175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31720" y="301752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31720" y="30175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...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0" y="3017520"/>
            <a:ext cx="16916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301752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29184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默认因子值越大越好；参赛者需自行确保因子方向正确性。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143000"/>
            <a:ext cx="5486400" cy="27432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280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数据校验与预处理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691640"/>
            <a:ext cx="5120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列检查</a:t>
            </a:r>
            <a:r>
              <a:rPr sz="1100">
                <a:solidFill>
                  <a:srgbClr val="4A5568"/>
                </a:solidFill>
                <a:latin typeface="PingFang SC"/>
              </a:rPr>
              <a:t>  仅含 date / instrument / factor 三列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交易日完整</a:t>
            </a:r>
            <a:r>
              <a:rPr sz="1100">
                <a:solidFill>
                  <a:srgbClr val="4A5568"/>
                </a:solidFill>
                <a:latin typeface="PingFang SC"/>
              </a:rPr>
              <a:t>  区间内不缺任何交易日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覆盖度</a:t>
            </a:r>
            <a:r>
              <a:rPr sz="1100">
                <a:solidFill>
                  <a:srgbClr val="4A5568"/>
                </a:solidFill>
                <a:latin typeface="PingFang SC"/>
              </a:rPr>
              <a:t>  每日因子缺失率 ≤ 40%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预处理</a:t>
            </a:r>
            <a:r>
              <a:rPr sz="1100">
                <a:solidFill>
                  <a:srgbClr val="4A5568"/>
                </a:solidFill>
                <a:latin typeface="PingFang SC"/>
              </a:rPr>
              <a:t>  去极值 + 标准化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风格剔除</a:t>
            </a:r>
            <a:r>
              <a:rPr sz="1100">
                <a:solidFill>
                  <a:srgbClr val="4A5568"/>
                </a:solidFill>
                <a:latin typeface="PingFang SC"/>
              </a:rPr>
              <a:t>  对 BARRA 风险因子回归取残差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69080"/>
            <a:ext cx="11247120" cy="23317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平台与代码要求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663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74CB"/>
                </a:solidFill>
                <a:latin typeface="PingFang SC"/>
              </a:rPr>
              <a:t>模板代码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466344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factor_financial / factor_hf / factor_model 三套官方模板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663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74CB"/>
                </a:solidFill>
                <a:latin typeface="PingFang SC"/>
              </a:rPr>
              <a:t>运行时长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66344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Notebook ≤ 3 小时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486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74CB"/>
                </a:solidFill>
                <a:latin typeface="PingFang SC"/>
              </a:rPr>
              <a:t>网络限制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48640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Notebook 互联网访问被禁用，防止信息泄露与未来数据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486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74CB"/>
                </a:solidFill>
                <a:latin typeface="PingFang SC"/>
              </a:rPr>
              <a:t>提交上限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48640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每队最多 50 个因子，文本类信息（如 Prompt）以 markdown 提交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943600" cy="4572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BA02"/>
                </a:solidFill>
                <a:latin typeface="PingFang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SC"/>
              </a:rPr>
              <a:t>端到端大模型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CE4F5"/>
                </a:solidFill>
                <a:latin typeface="PingFang SC"/>
              </a:rPr>
              <a:t>End-to-End Quant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2BA02"/>
                </a:solidFill>
                <a:latin typeface="PingFang SC"/>
              </a:rPr>
              <a:t>原始量价 → 投资决策一站式映射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4F5"/>
                </a:solidFill>
                <a:latin typeface="PingFang SC"/>
              </a:rPr>
              <a:t>无显式特征工程，用深度网络直接从分钟级行情学习残差收益预测；私榜阶段平台从零重训。</a:t>
            </a:r>
          </a:p>
          <a:p>
            <a:pPr algn="l"/>
            <a:r>
              <a:rPr sz="1400" b="0">
                <a:solidFill>
                  <a:srgbClr val="DCE4F5"/>
                </a:solidFill>
                <a:latin typeface="PingFang SC"/>
              </a:rPr>
              <a:t>适合：AI、CS、数据科学、金融科技方向学生。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04  端到端大模型  |  任务与数据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鼓励无特征 / 弱特征建模，直接处理原始量价序列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47120" cy="21031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137160" cy="210312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任务定义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传统 “因子挖掘 + 组合优化” 两步走范式存在信息损耗与人工偏见；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本赛道聚焦端到端模型生成：以多频率分钟级行情为输入、股票残差收益率为目标，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通过模型内部机制自发捕捉市场微观结构的深层规律。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数据说明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287" y="3931920"/>
            <a:ext cx="2743200" cy="1554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2287" y="3931920"/>
            <a:ext cx="2743200" cy="41148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287" y="3931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股票池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287" y="44348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PingFang SC"/>
              </a:rPr>
              <a:t>中证 1000 历史成分股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6927" y="3931920"/>
            <a:ext cx="2743200" cy="1554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06927" y="3931920"/>
            <a:ext cx="2743200" cy="411480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6927" y="3931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时间范围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6927" y="44348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PingFang SC"/>
              </a:rPr>
              <a:t>2019-01-01 ~ 2023-12-31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1567" y="3931920"/>
            <a:ext cx="2743200" cy="1554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1567" y="3931920"/>
            <a:ext cx="2743200" cy="411480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1567" y="3931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行情频率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1567" y="44348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PingFang SC"/>
              </a:rPr>
              <a:t>1 / 5 / 15 / 30 分钟 K 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6207" y="3931920"/>
            <a:ext cx="2743200" cy="15544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6207" y="3931920"/>
            <a:ext cx="2743200" cy="41148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76207" y="39319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</a:rPr>
              <a:t>市场快照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6207" y="4434840"/>
            <a:ext cx="27432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PingFang SC"/>
              </a:rPr>
              <a:t>盘口数据（多频率）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官方模板代码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Transformer.ipynb（实时训练）  ·  Transformer_modelsave_train.py（本地训练并保存权重）  ·  Transformer_modelsave_predict.ipynb（加载权重预测）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04  端到端大模型  |  模型规范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硬性约束限制特征工程，鼓励真正的端到端结构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486400" cy="3200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输入与特征约束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12064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特征上限</a:t>
            </a:r>
            <a:r>
              <a:rPr sz="1100">
                <a:solidFill>
                  <a:srgbClr val="4A5568"/>
                </a:solidFill>
                <a:latin typeface="PingFang SC"/>
              </a:rPr>
              <a:t>  ≤ 100 个原始字段（时序长度不计）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数据来源</a:t>
            </a:r>
            <a:r>
              <a:rPr sz="1100">
                <a:solidFill>
                  <a:srgbClr val="4A5568"/>
                </a:solidFill>
                <a:latin typeface="PingFang SC"/>
              </a:rPr>
              <a:t>  全部直接来自主办方提供的数据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禁止操作</a:t>
            </a:r>
            <a:r>
              <a:rPr sz="1100">
                <a:solidFill>
                  <a:srgbClr val="4A5568"/>
                </a:solidFill>
                <a:latin typeface="PingFang SC"/>
              </a:rPr>
              <a:t>  跨字段算子、滚动统计、因子合成、降维、第三方数据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允许预处理</a:t>
            </a:r>
            <a:r>
              <a:rPr sz="1100">
                <a:solidFill>
                  <a:srgbClr val="4A5568"/>
                </a:solidFill>
                <a:latin typeface="PingFang SC"/>
              </a:rPr>
              <a:t>  缺失填充、归一化、对数 / 符号变换（仅训练集统计）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时序窗口</a:t>
            </a:r>
            <a:r>
              <a:rPr sz="1100">
                <a:solidFill>
                  <a:srgbClr val="4A5568"/>
                </a:solidFill>
                <a:latin typeface="PingFang SC"/>
              </a:rPr>
              <a:t>  单次推理回看 ≤ 240 个交易日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486400" cy="32004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486400" cy="457200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43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模型架构约束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12064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可训练参数</a:t>
            </a:r>
            <a:r>
              <a:rPr sz="1100">
                <a:solidFill>
                  <a:srgbClr val="4A5568"/>
                </a:solidFill>
                <a:latin typeface="PingFang SC"/>
              </a:rPr>
              <a:t>  10 万 ≤ 参数量 ≤ 1 亿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外部权重</a:t>
            </a:r>
            <a:r>
              <a:rPr sz="1100">
                <a:solidFill>
                  <a:srgbClr val="4A5568"/>
                </a:solidFill>
                <a:latin typeface="PingFang SC"/>
              </a:rPr>
              <a:t>  禁止使用任何外部预训练权重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从零训练</a:t>
            </a:r>
            <a:r>
              <a:rPr sz="1100">
                <a:solidFill>
                  <a:srgbClr val="4A5568"/>
                </a:solidFill>
                <a:latin typeface="PingFang SC"/>
              </a:rPr>
              <a:t>  所有参数基于本竞赛数据训练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架构形态</a:t>
            </a:r>
            <a:r>
              <a:rPr sz="1100">
                <a:solidFill>
                  <a:srgbClr val="4A5568"/>
                </a:solidFill>
                <a:latin typeface="PingFang SC"/>
              </a:rPr>
              <a:t>  未硬性指定；浅层模型（线性 / XGBoost）难有竞争力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80"/>
            <a:ext cx="11247120" cy="1874519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模型输出格式（推理产出分数文件 · 仅三列）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29200"/>
            <a:ext cx="2377440" cy="3657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date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5029200"/>
            <a:ext cx="2377440" cy="3657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752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instrument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5029200"/>
            <a:ext cx="2377440" cy="36576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5029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PingFang SC"/>
              </a:rPr>
              <a:t>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6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2023-01-03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539496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000001.SZ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539496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6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0.05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76072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2023-01-03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576072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000002.SZ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5760720"/>
            <a:ext cx="2377440" cy="36576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57607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4A5568"/>
                </a:solidFill>
                <a:latin typeface="PingFang SC"/>
              </a:rPr>
              <a:t>-0.12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02920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默认分数越大越好；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所产出分数经风格剔除后等价于每日更新的单因子，</a:t>
            </a:r>
          </a:p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因此直接以单因子得分作为团队得分。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04  端到端大模型  |  评估与提交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公榜按提交权重推理；私榜由平台从零重训后推理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11247120" cy="96012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423"/>
                </a:solidFill>
                <a:latin typeface="PingFang SC"/>
              </a:rPr>
              <a:t>最终得分公式（与因子挖掘 A 项一致）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874CB"/>
                </a:solidFill>
                <a:latin typeface="PingFang SC"/>
              </a:rPr>
              <a:t>Score = 0.25·Rank(IC_mean) + 0.25·Rank(IC_IR) + 0.25·Rank(SR) + 0.25·Rank(Stress)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486400" cy="2194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平台预处理流程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去极值</a:t>
            </a:r>
            <a:r>
              <a:rPr sz="1100">
                <a:solidFill>
                  <a:srgbClr val="4A5568"/>
                </a:solidFill>
                <a:latin typeface="PingFang SC"/>
              </a:rPr>
              <a:t>  截面 1% / 99% 分位 winsorize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标准化</a:t>
            </a:r>
            <a:r>
              <a:rPr sz="1100">
                <a:solidFill>
                  <a:srgbClr val="4A5568"/>
                </a:solidFill>
                <a:latin typeface="PingFang SC"/>
              </a:rPr>
              <a:t>  截面 z-score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风格剔除</a:t>
            </a:r>
            <a:r>
              <a:rPr sz="1100">
                <a:solidFill>
                  <a:srgbClr val="4A5568"/>
                </a:solidFill>
                <a:latin typeface="PingFang SC"/>
              </a:rPr>
              <a:t>  对 10 类 BARRA 风险因子回归取残差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194560"/>
            <a:ext cx="5486400" cy="21945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数据划分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公榜训练</a:t>
            </a:r>
            <a:r>
              <a:rPr sz="1100">
                <a:solidFill>
                  <a:srgbClr val="4A5568"/>
                </a:solidFill>
                <a:latin typeface="PingFang SC"/>
              </a:rPr>
              <a:t>  2019-01-01 ~ 2023-12-31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公榜验证</a:t>
            </a:r>
            <a:r>
              <a:rPr sz="1100">
                <a:solidFill>
                  <a:srgbClr val="4A5568"/>
                </a:solidFill>
                <a:latin typeface="PingFang SC"/>
              </a:rPr>
              <a:t>  2024-01-01 ~ 2024-12-31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私榜</a:t>
            </a:r>
            <a:r>
              <a:rPr sz="1100">
                <a:solidFill>
                  <a:srgbClr val="4A5568"/>
                </a:solidFill>
                <a:latin typeface="PingFang SC"/>
              </a:rPr>
              <a:t>  区间不公开，含样本外数据，最终排名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提交规范与频次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公榜单次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0292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完整模型包：训练 + 推理脚本、依赖、超参、随机种子、已训练权重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公榜推理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3035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平台仅基于提交权重做推理，免去重复训练成本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5778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提交频次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577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每队每日 ≤ 3 次（含失败提交）；提交互不覆盖，可并行迭代多个候选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私榜模型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85216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公榜截止前指定唯一参赛模型，逾期默认取最高分提交并冻结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26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私榜重训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8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平台隔离环境从零重训 + 私榜区间推理，结果即为最终排名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4160520"/>
            <a:ext cx="5943600" cy="45720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2BA02"/>
                </a:solidFill>
                <a:latin typeface="PingFang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ingFang SC"/>
              </a:rPr>
              <a:t>AI 开放创新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DCE4F5"/>
                </a:solidFill>
                <a:latin typeface="PingFang SC"/>
              </a:rPr>
              <a:t>Open Innovation in AI × Quant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34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2BA02"/>
                </a:solidFill>
                <a:latin typeface="PingFang SC"/>
              </a:rPr>
              <a:t>面向 AI × 量化的开放式创新创业项目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4F5"/>
                </a:solidFill>
                <a:latin typeface="PingFang SC"/>
              </a:rPr>
              <a:t>不预设固定命题、不逐日打分；自由立项，线下路演评比，配套人才网络与孵化资源。</a:t>
            </a:r>
          </a:p>
          <a:p>
            <a:pPr algn="l"/>
            <a:r>
              <a:rPr sz="1400" b="0">
                <a:solidFill>
                  <a:srgbClr val="DCE4F5"/>
                </a:solidFill>
                <a:latin typeface="PingFang SC"/>
              </a:rPr>
              <a:t>适合：跨学科、创新创业团队。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05  AI 开放创新  |  立项方向与数据工具栈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鼓励原创 · 可跨方向融合 · AI 必须为核心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423"/>
                </a:solidFill>
                <a:latin typeface="PingFang SC"/>
              </a:rPr>
              <a:t>可选立项方向（提交时注明主方向即可）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5577840" cy="12801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37160" cy="128016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AI 因子与策略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LLM、时序模型、强化学习挖掘特色因子；端到端 AI 量化策略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577840" cy="12801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137160" cy="1280160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宏观与事件驱动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美联储议息、地缘政治、政策调整：风险识别 / 情景模拟 / 对冲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71800"/>
            <a:ext cx="5577840" cy="12801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137160" cy="1280160"/>
          </a:xfrm>
          <a:prstGeom prst="rect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1089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多模态金融理解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研报、电话会、新闻、图表的多模态解析与信号生成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71800"/>
            <a:ext cx="5577840" cy="128016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71800"/>
            <a:ext cx="137160" cy="1280160"/>
          </a:xfrm>
          <a:prstGeom prst="rect">
            <a:avLst/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1089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AI 工具与基础设施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661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评测框架、回测加速、可解释性、Agent 工作流等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0560"/>
            <a:ext cx="11247120" cy="19202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数据与工具栈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结构化数据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0292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A 股日频 / 分钟频行情、PIT 财务数据、宏观指标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029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非结构化数据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0292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研报、新闻、电话会、股吧舆情（已合规脱敏）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算力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56235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CPU / GPU Notebook；决赛阶段为入围团队提供 GPU 算力包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623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874CB"/>
                </a:solidFill>
                <a:latin typeface="PingFang SC"/>
              </a:rPr>
              <a:t>AI 工具链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6235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主流开源 LLM 接口 + BigQuant 自研量化基础模型 API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05  AI 开放创新  |  准入校验与决赛评审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通过准入 → 进入决赛评审池 → 路演评分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方案准入校验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120640" cy="2697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内容相关性</a:t>
            </a:r>
            <a:r>
              <a:rPr sz="1100">
                <a:solidFill>
                  <a:srgbClr val="4A5568"/>
                </a:solidFill>
                <a:latin typeface="PingFang SC"/>
              </a:rPr>
              <a:t>  与量化领域强相关；不违反金融监管或公序良俗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AI 核心性</a:t>
            </a:r>
            <a:r>
              <a:rPr sz="1100">
                <a:solidFill>
                  <a:srgbClr val="4A5568"/>
                </a:solidFill>
                <a:latin typeface="PingFang SC"/>
              </a:rPr>
              <a:t>  核心逻辑必须由 AI 主导，禁止贴标签式 AI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材料完整性</a:t>
            </a:r>
            <a:r>
              <a:rPr sz="1100">
                <a:solidFill>
                  <a:srgbClr val="4A5568"/>
                </a:solidFill>
                <a:latin typeface="PingFang SC"/>
              </a:rPr>
              <a:t>  Notebook + 方案说明 + AI 应用说明 三件套齐全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0F1423"/>
                </a:solidFill>
                <a:latin typeface="PingFang SC"/>
              </a:rPr>
              <a:t>• 合规与安全</a:t>
            </a:r>
            <a:r>
              <a:rPr sz="1100">
                <a:solidFill>
                  <a:srgbClr val="4A5568"/>
                </a:solidFill>
                <a:latin typeface="PingFang SC"/>
              </a:rPr>
              <a:t>  无外部网络访问；LLM 输出附事实核查与免责声明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486400" cy="329184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43000"/>
            <a:ext cx="5486400" cy="457200"/>
          </a:xfrm>
          <a:prstGeom prst="rect">
            <a:avLst/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143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/>
              </a:rPr>
              <a:t>决赛评审标准（百分制）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423"/>
                </a:solidFill>
                <a:latin typeface="PingFang SC"/>
              </a:rPr>
              <a:t>AI 应用创新性 · 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技术选型与场景适配性、原创性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423"/>
                </a:solidFill>
                <a:latin typeface="PingFang SC"/>
              </a:rPr>
              <a:t>方案完整性 · 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43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数据 / 训练 / 验证流程严谨；可复现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423"/>
                </a:solidFill>
                <a:latin typeface="PingFang SC"/>
              </a:rPr>
              <a:t>商业化与生态 ·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客户画像、付费意愿、与 BigQuant 协同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423"/>
                </a:solidFill>
                <a:latin typeface="PingFang SC"/>
              </a:rPr>
              <a:t>现场表现 · 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陈述清晰、问答精准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617720"/>
            <a:ext cx="11247120" cy="1783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提交三件套（方案研发阶段）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20640"/>
            <a:ext cx="35204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74CB"/>
                </a:solidFill>
                <a:latin typeface="PingFang SC"/>
              </a:rPr>
              <a:t>核心 Notebook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5778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main 函数承载核心逻辑；AI 关键环节添加 # [AI-CORE] 注释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120640"/>
            <a:ext cx="35204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74CB"/>
                </a:solidFill>
                <a:latin typeface="PingFang SC"/>
              </a:rPr>
              <a:t>方案说明文档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5778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嵌入 Notebook：场景定义 / 数据使用 / AI 方案 / 验证 / 商业化假设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5120640"/>
            <a:ext cx="35204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52120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874CB"/>
                </a:solidFill>
                <a:latin typeface="PingFang SC"/>
              </a:rPr>
              <a:t>AI 应用说明表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5577840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PingFang SC"/>
              </a:rPr>
              <a:t>逐项列出 AI 介入位置、所用模型、输入输出、可替代性评估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06  三大赛事对比  |  快速选题指南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7315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1">
                <a:solidFill>
                  <a:srgbClr val="F2BA02"/>
                </a:solidFill>
                <a:latin typeface="PingFang SC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874CB"/>
                </a:solidFill>
                <a:latin typeface="PingFang SC"/>
              </a:rPr>
              <a:t>同一平台、同一时间窗，但任务形态、评分逻辑差异显著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463040" cy="45720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430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143000"/>
            <a:ext cx="3291840" cy="45720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1430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AI 因子挖掘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143000"/>
            <a:ext cx="3246120" cy="45720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1430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端到端大模型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1143000"/>
            <a:ext cx="3246120" cy="45720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1430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ingFang SC"/>
              </a:rPr>
              <a:t>AI 开放创新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600200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600200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423"/>
                </a:solidFill>
                <a:latin typeface="PingFang SC"/>
              </a:rPr>
              <a:t>产出物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1600200"/>
            <a:ext cx="32918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1600200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日频 alpha 因子代码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600200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600200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端到端模型 + 权重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58200" y="1600200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600200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完整 AI × 量化方案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221992"/>
            <a:ext cx="146304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221992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423"/>
                </a:solidFill>
                <a:latin typeface="PingFang SC"/>
              </a:rPr>
              <a:t>数据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221992"/>
            <a:ext cx="329184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2221992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1 分钟 K 线 + PIT 财务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2019 ~ 2024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80" y="2221992"/>
            <a:ext cx="324612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0" y="2221992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1/5/15/30 分钟行情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2019 ~ 2023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58200" y="2221992"/>
            <a:ext cx="324612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221992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结构化 + 非结构化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含舆情语料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2843784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843784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423"/>
                </a:solidFill>
                <a:latin typeface="PingFang SC"/>
              </a:rPr>
              <a:t>核心约束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2843784"/>
            <a:ext cx="32918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0" y="2843784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三列格式、覆盖度、风格剔除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843784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0" y="2843784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≤100 字段、参数 1e5~1e8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禁特征工程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2843784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2843784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AI 必须为核心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禁贴标签式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465576"/>
            <a:ext cx="146304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465576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423"/>
                </a:solidFill>
                <a:latin typeface="PingFang SC"/>
              </a:rPr>
              <a:t>评分逻辑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3465576"/>
            <a:ext cx="329184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11680" y="3465576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max(0.3·A + 0.7·B)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单因子 + 组合贡献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3465576"/>
            <a:ext cx="324612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3465576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IC / IC_IR / SR / Stress 等权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58200" y="3465576"/>
            <a:ext cx="324612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9640" y="3465576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评委百分制（创新 35%）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087368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087368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423"/>
                </a:solidFill>
                <a:latin typeface="PingFang SC"/>
              </a:rPr>
              <a:t>榜单机制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4087368"/>
            <a:ext cx="32918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0" y="4087368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公榜 + 私榜（自动迭代）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4087368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0" y="4087368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公榜 + 私榜（平台重训）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458200" y="4087368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087368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无榜单 · 路演评比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709160"/>
            <a:ext cx="146304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709160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423"/>
                </a:solidFill>
                <a:latin typeface="PingFang SC"/>
              </a:rPr>
              <a:t>关键节点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20240" y="4709160"/>
            <a:ext cx="329184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11680" y="4709160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公榜 8/5 · 私榜 8/12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12080" y="4709160"/>
            <a:ext cx="324612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4709160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公榜 8/5 · 私榜 8/12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58200" y="4709160"/>
            <a:ext cx="3246120" cy="621792"/>
          </a:xfrm>
          <a:prstGeom prst="rect">
            <a:avLst/>
          </a:prstGeom>
          <a:solidFill>
            <a:srgbClr val="F4F6FB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49640" y="4709160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方案 7/25 截止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5330952"/>
            <a:ext cx="14630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330952"/>
            <a:ext cx="12801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F1423"/>
                </a:solidFill>
                <a:latin typeface="PingFang SC"/>
              </a:rPr>
              <a:t>适合人群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20240" y="5330952"/>
            <a:ext cx="329184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11680" y="5330952"/>
            <a:ext cx="310896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金工 / 量化 / 数学 / 统计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12080" y="5330952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3520" y="5330952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AI / CS / 数据科学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58200" y="5330952"/>
            <a:ext cx="32461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CE4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49640" y="5330952"/>
            <a:ext cx="30632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PingFang SC"/>
              </a:rPr>
              <a:t>跨学科 / 创新创业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F2BA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ingFang SC"/>
              </a:rPr>
              <a:t>如何参赛  |  报名指引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423"/>
                </a:solidFill>
                <a:latin typeface="PingFang SC"/>
              </a:rPr>
              <a:t>参赛流程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77240" cy="6400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2BA02"/>
                </a:solidFill>
                <a:latin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544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选定赛事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5544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三大赛事任选其一，可同时参与（账号统一）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777240" cy="6400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2BA02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2860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组队报名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活动主页报名 · 单队最多 5 人 · 报名截止 7/25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777240" cy="6400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2BA02"/>
                </a:solidFill>
                <a:latin typeface="PingFang SC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0175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加入社群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01752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报名后加入官方微信 / QQ 群，寻找队友 / 获取通知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112471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749040"/>
            <a:ext cx="777240" cy="6400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4904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2BA02"/>
                </a:solidFill>
                <a:latin typeface="PingFang S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37490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赛前培训 + 内测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74904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6/24 赛前培训；6/22 ~ 6/28 系统内测，结束后清榜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777240" cy="6400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8056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2BA02"/>
                </a:solidFill>
                <a:latin typeface="PingFang SC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提交作品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48056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因子 / 端到端：公榜 8/5、私榜 8/12；开放创新：方案 7/25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212080"/>
            <a:ext cx="777240" cy="6400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12080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2BA02"/>
                </a:solidFill>
                <a:latin typeface="PingFang SC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2120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423"/>
                </a:solidFill>
                <a:latin typeface="PingFang SC"/>
              </a:rPr>
              <a:t>晋级决赛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2120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PingFang SC"/>
              </a:rPr>
              <a:t>8/16 公布晋级榜单，每场 12 席 · 9 月线下答辩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0F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2BA02"/>
                </a:solidFill>
                <a:latin typeface="PingFang SC"/>
              </a:rPr>
              <a:t>报名入口：https://bigquant.com/square/competition/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